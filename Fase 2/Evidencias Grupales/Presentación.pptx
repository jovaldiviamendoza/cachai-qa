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381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A218D-9170-4842-ABC2-8E9F5F480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4FE73D-DBE0-4156-AC6F-42CC7E459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24D28C-5FDE-4F20-8F6A-0733784F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B7C97-AC51-4EDC-B0FA-52E61161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C24362-24D7-4B82-8F1F-3D8D2A81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48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242F9-15F1-406F-A78A-384B6AED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BD572D-BF0B-4C30-B680-67515CD2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32BBBC-682C-427A-A7C3-52B8D867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E2D2AB-5C08-45D7-90E7-999F758F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C68FEC-9067-4D5B-997A-7B433745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789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1D874-FE82-4D78-B4D6-899E2F33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07EA5D-AD95-414A-973E-7D1A7DD61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B865EC-B156-47E0-A606-F9F378087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E3D80E-5460-4C30-9272-0C47DE5C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E276B-5A16-44B0-835F-00D6760B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168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9B481-251C-4882-8A21-686AE7D0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1D1CB4-328D-4B4C-AFCB-10C036CE8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FF9859-A320-4B10-9B3B-87FBBBD02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FE0938-F626-4D82-B8FA-45F885DB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4EE73B-46DE-46FE-AF84-9D6FCF08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591D12-F331-43B7-9409-820E55A0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7793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13779-D327-4B3E-8003-E8C60BB5D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3EE286-C761-45AC-9536-DC3E4AA91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89015C-AF3B-4D82-9595-DE7C5A12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CE2E6A-D35C-4CB7-924D-3891A3601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A11215-7289-47E4-9899-6E9AD8D61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9A2DD0-A4E3-42E9-808F-2B7D5774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D7847B-9F11-424F-9DA5-76960C47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82C336-CC61-45FF-AB09-8DD4BDDC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5111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E5B87-EB85-4711-AC2E-D2963F3C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29B990-42D2-44C4-A4EB-D1F9CB2F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C43AA3-F60A-4E92-B4A0-7BB993E1D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089CD3-3E88-480E-80C8-011FA53F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293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DF5A32-B281-4315-B2F1-3EF14067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5A3515-701B-4F34-8406-331B9B4D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5524B3-FEE6-4CE4-AED1-3EF03E91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63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FBFB4-C3C6-46D6-A99F-CB6A8611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6A1F93-8DBC-40A1-BB05-F810CC7CB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F9A293-5DDA-4C40-A1EC-07A79E8A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8583F-56D2-4B1E-84C1-26CEE1F0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747015-5956-428B-8029-1F100C1E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0327A6-47ED-45EB-952C-9691BDE8C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353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5DE08A-68E5-4581-8FF2-7ABD365D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F507D77-41F2-46FE-9781-7A916D67E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A243B5-7C9C-4658-A607-D1ED456C7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CE5201-CEE2-4FCD-9FBB-CA500C2D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386011-F7B1-49D5-BFAB-0B0F2FF24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2BF9DE-A33E-494A-A30C-177E4F94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135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F6494-9E2B-4128-84B4-B444DE13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E567F4-6CA2-4D16-9C3E-49388B2E2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CCE7C-0ED3-4FF7-88AD-37503CE3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2E661A-61E0-4411-B3B6-19921F1F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90C5CB-F034-4802-B62F-B60AB216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586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C957FA-4848-4BAF-B1E2-32D44829C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B27BF-9A56-46E6-9643-50AC46BC8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9B1DD4-0E18-4845-83D5-52FFF19F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ED3C7-7BF9-4C37-9D89-A3DDB044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E4B817-F4C9-44B6-A06E-7D5B5121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985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54344D-9CFE-46DE-906C-6E3FBCE67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EA22DD-A2B5-4CF1-BE3B-48A733F66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7F05BD-455F-474E-9377-F82E9BD91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DBDB6-8302-4BFF-A864-4770071891FC}" type="datetimeFigureOut">
              <a:rPr lang="es-CL" smtClean="0"/>
              <a:t>18-10-2026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9F67C9-6B48-448D-B2C5-7CFFA1F3E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6740C6-787D-4C6C-A166-D4B222D66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96696-BB65-40F8-8537-719CA8B83A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021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3847738-FE76-476E-855D-1D9BB0C12E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0B276A5-DA77-4D1B-82FF-7500AB0590B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3E0B75-7D04-493F-BE49-BF5FC8DF1AC7}"/>
              </a:ext>
            </a:extLst>
          </p:cNvPr>
          <p:cNvSpPr txBox="1"/>
          <p:nvPr/>
        </p:nvSpPr>
        <p:spPr>
          <a:xfrm>
            <a:off x="762000" y="7620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 b="1" dirty="0">
                <a:solidFill>
                  <a:srgbClr val="7DD3FC"/>
                </a:solidFill>
                <a:latin typeface="Segoe UI" panose="020B0502040204020203" pitchFamily="34" charset="0"/>
              </a:rPr>
              <a:t>PROYECTO APT  ·  EVALUACIÓN SUMATIVA 2</a:t>
            </a:r>
            <a:endParaRPr lang="es-CL" sz="1100" b="1" dirty="0">
              <a:solidFill>
                <a:srgbClr val="7DD3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7C3354-A9EA-4FF1-B9FB-AD323BD8016C}"/>
              </a:ext>
            </a:extLst>
          </p:cNvPr>
          <p:cNvSpPr txBox="1"/>
          <p:nvPr/>
        </p:nvSpPr>
        <p:spPr>
          <a:xfrm>
            <a:off x="762000" y="1117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5800" b="1" dirty="0">
                <a:solidFill>
                  <a:srgbClr val="FFFFFF"/>
                </a:solidFill>
                <a:latin typeface="Segoe UI" panose="020B0502040204020203" pitchFamily="34" charset="0"/>
              </a:rPr>
              <a:t>CACHAI-QA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D05F8A-CC9F-432D-9C09-62371404AEFF}"/>
              </a:ext>
            </a:extLst>
          </p:cNvPr>
          <p:cNvSpPr txBox="1"/>
          <p:nvPr/>
        </p:nvSpPr>
        <p:spPr>
          <a:xfrm>
            <a:off x="762000" y="21082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450">
                <a:solidFill>
                  <a:srgbClr val="94A3B8"/>
                </a:solidFill>
                <a:latin typeface="Segoe UI" panose="020B0502040204020203" pitchFamily="34" charset="0"/>
              </a:rPr>
              <a:t>Comprehensive Automated Checks &amp; Headless Assertions Infrastructure</a:t>
            </a:r>
            <a:endParaRPr lang="es-CL" sz="14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42444F-6C9A-4C52-9075-7D037AC812AC}"/>
              </a:ext>
            </a:extLst>
          </p:cNvPr>
          <p:cNvSpPr/>
          <p:nvPr/>
        </p:nvSpPr>
        <p:spPr>
          <a:xfrm>
            <a:off x="762000" y="2590800"/>
            <a:ext cx="1143000" cy="508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5418E4-2068-45E6-A957-A0C170301054}"/>
              </a:ext>
            </a:extLst>
          </p:cNvPr>
          <p:cNvSpPr txBox="1"/>
          <p:nvPr/>
        </p:nvSpPr>
        <p:spPr>
          <a:xfrm>
            <a:off x="762000" y="28702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350">
                <a:solidFill>
                  <a:srgbClr val="C7D2FE"/>
                </a:solidFill>
                <a:latin typeface="Segoe UI" panose="020B0502040204020203" pitchFamily="34" charset="0"/>
              </a:rPr>
              <a:t>Framework de automatización de pruebas E2E con arquitectura Plug &amp; Play: desde el ingreso de una URL hasta un diagnóstico del estado de salud del sitio.</a:t>
            </a:r>
            <a:endParaRPr lang="es-CL" sz="1350">
              <a:solidFill>
                <a:srgbClr val="C7D2F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C8DEB07-8EED-4AE8-A9DC-B89C5B0ED706}"/>
              </a:ext>
            </a:extLst>
          </p:cNvPr>
          <p:cNvSpPr/>
          <p:nvPr/>
        </p:nvSpPr>
        <p:spPr>
          <a:xfrm>
            <a:off x="762000" y="4013200"/>
            <a:ext cx="5016500" cy="1270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A2E325-DA68-41CF-923F-E84064E5708F}"/>
              </a:ext>
            </a:extLst>
          </p:cNvPr>
          <p:cNvSpPr txBox="1"/>
          <p:nvPr/>
        </p:nvSpPr>
        <p:spPr>
          <a:xfrm>
            <a:off x="1041400" y="42418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500" b="1">
                <a:solidFill>
                  <a:srgbClr val="FFFFFF"/>
                </a:solidFill>
                <a:latin typeface="Segoe UI" panose="020B0502040204020203" pitchFamily="34" charset="0"/>
              </a:rPr>
              <a:t>Alex Mauricio Puebla Allendes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C1E5B7-D1F8-4411-A1D8-D627C8FC47F7}"/>
              </a:ext>
            </a:extLst>
          </p:cNvPr>
          <p:cNvSpPr txBox="1"/>
          <p:nvPr/>
        </p:nvSpPr>
        <p:spPr>
          <a:xfrm>
            <a:off x="1041400" y="45974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200">
                <a:solidFill>
                  <a:srgbClr val="A5B4FC"/>
                </a:solidFill>
                <a:latin typeface="Segoe UI" panose="020B0502040204020203" pitchFamily="34" charset="0"/>
              </a:rPr>
              <a:t>QA Analyst &amp; Test Strategy Lead</a:t>
            </a:r>
            <a:endParaRPr lang="es-CL" sz="1200">
              <a:solidFill>
                <a:srgbClr val="A5B4F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FC26FE3-2632-4858-9FA8-A69DBB021D23}"/>
              </a:ext>
            </a:extLst>
          </p:cNvPr>
          <p:cNvSpPr/>
          <p:nvPr/>
        </p:nvSpPr>
        <p:spPr>
          <a:xfrm>
            <a:off x="6413500" y="4013200"/>
            <a:ext cx="5016500" cy="1270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36A2F6-26BD-463F-8BD7-00AF9E46817C}"/>
              </a:ext>
            </a:extLst>
          </p:cNvPr>
          <p:cNvSpPr txBox="1"/>
          <p:nvPr/>
        </p:nvSpPr>
        <p:spPr>
          <a:xfrm>
            <a:off x="6692900" y="42418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500" b="1">
                <a:solidFill>
                  <a:srgbClr val="FFFFFF"/>
                </a:solidFill>
                <a:latin typeface="Segoe UI" panose="020B0502040204020203" pitchFamily="34" charset="0"/>
              </a:rPr>
              <a:t>José Ignacio Valdivia Mendoza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042803-E87C-480E-AAEB-6E497E4FBDF2}"/>
              </a:ext>
            </a:extLst>
          </p:cNvPr>
          <p:cNvSpPr txBox="1"/>
          <p:nvPr/>
        </p:nvSpPr>
        <p:spPr>
          <a:xfrm>
            <a:off x="6692900" y="45974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200">
                <a:solidFill>
                  <a:srgbClr val="A5B4FC"/>
                </a:solidFill>
                <a:latin typeface="Segoe UI" panose="020B0502040204020203" pitchFamily="34" charset="0"/>
              </a:rPr>
              <a:t>QA Automation Engineer &amp; Cloud Infrastructure Lead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141AED-DE35-4174-8C80-C4FFD2F54C2B}"/>
              </a:ext>
            </a:extLst>
          </p:cNvPr>
          <p:cNvSpPr txBox="1"/>
          <p:nvPr/>
        </p:nvSpPr>
        <p:spPr>
          <a:xfrm>
            <a:off x="762000" y="5461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>
                <a:solidFill>
                  <a:srgbClr val="94A3B8"/>
                </a:solidFill>
                <a:latin typeface="Segoe UI" panose="020B0502040204020203" pitchFamily="34" charset="0"/>
              </a:rPr>
              <a:t>Áreas de desempeño: Calidad de Software (QA) y Automatización de pruebas  ·  Ingeniería de Software  ·  Gestión de Proyectos de TI</a:t>
            </a:r>
            <a:endParaRPr lang="es-CL" sz="10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FF0334-C838-4861-BEFD-63CD1CCCEC3E}"/>
              </a:ext>
            </a:extLst>
          </p:cNvPr>
          <p:cNvSpPr txBox="1"/>
          <p:nvPr/>
        </p:nvSpPr>
        <p:spPr>
          <a:xfrm>
            <a:off x="762000" y="5943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>
                <a:solidFill>
                  <a:srgbClr val="64748B"/>
                </a:solidFill>
                <a:latin typeface="Segoe UI" panose="020B0502040204020203" pitchFamily="34" charset="0"/>
              </a:rPr>
              <a:t>DUOC UC  ·  Escuela de Informática y Telecomunicaciones  ·  Octubre 2026  ·  Versión 2.0</a:t>
            </a:r>
            <a:endParaRPr lang="es-CL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58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472DDDB-FC89-4E56-82E7-A0F6058CC5E1}"/>
              </a:ext>
            </a:extLst>
          </p:cNvPr>
          <p:cNvSpPr txBox="1"/>
          <p:nvPr/>
        </p:nvSpPr>
        <p:spPr>
          <a:xfrm>
            <a:off x="762000" y="4826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800" b="1">
                <a:solidFill>
                  <a:srgbClr val="0F172A"/>
                </a:solidFill>
                <a:latin typeface="Segoe UI" panose="020B0502040204020203" pitchFamily="34" charset="0"/>
              </a:rPr>
              <a:t>El problema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073DCF4-ECA6-4D45-BBB6-1C0D3D621DB0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375265-86F1-4E8F-9CBB-778F49B094A7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>
                <a:solidFill>
                  <a:srgbClr val="64748B"/>
                </a:solidFill>
                <a:latin typeface="Segoe UI" panose="020B0502040204020203" pitchFamily="34" charset="0"/>
              </a:rPr>
              <a:t>Se generan muchas aplicaciones dinámicas o asincrónicas, y su revisión presenta un problema en dos partes.</a:t>
            </a:r>
            <a:endParaRPr lang="es-CL" sz="12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74A492F-B2A3-45C2-8531-DF9C0A4EA035}"/>
              </a:ext>
            </a:extLst>
          </p:cNvPr>
          <p:cNvSpPr/>
          <p:nvPr/>
        </p:nvSpPr>
        <p:spPr>
          <a:xfrm>
            <a:off x="762000" y="1625600"/>
            <a:ext cx="5207000" cy="218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56D4214-7C78-4D35-A77D-FFA7D2D67FC2}"/>
              </a:ext>
            </a:extLst>
          </p:cNvPr>
          <p:cNvSpPr/>
          <p:nvPr/>
        </p:nvSpPr>
        <p:spPr>
          <a:xfrm>
            <a:off x="762000" y="1625600"/>
            <a:ext cx="5207000" cy="762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D820A8A-0FAE-40DC-8BD3-3E2A8890AF70}"/>
              </a:ext>
            </a:extLst>
          </p:cNvPr>
          <p:cNvSpPr txBox="1"/>
          <p:nvPr/>
        </p:nvSpPr>
        <p:spPr>
          <a:xfrm>
            <a:off x="1066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Pruebas manuales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0FA1D70-FB3A-40F6-A5F6-A4685D52F8B6}"/>
              </a:ext>
            </a:extLst>
          </p:cNvPr>
          <p:cNvSpPr txBox="1"/>
          <p:nvPr/>
        </p:nvSpPr>
        <p:spPr>
          <a:xfrm>
            <a:off x="1066800" y="2336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Son lentas y propensas a errores humanos.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Cada actualización obliga a repetir los mismos clics.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Dependen de la disponibilidad de la persona.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No queda un registro reutilizable de lo probado.</a:t>
            </a:r>
            <a:endParaRPr lang="es-CL" sz="11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839DFB3-E15E-4526-B429-CEBE177DECC5}"/>
              </a:ext>
            </a:extLst>
          </p:cNvPr>
          <p:cNvSpPr/>
          <p:nvPr/>
        </p:nvSpPr>
        <p:spPr>
          <a:xfrm>
            <a:off x="6223000" y="1625600"/>
            <a:ext cx="5207000" cy="218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E79FE0A-3DD0-4415-B6B0-6850650CC53C}"/>
              </a:ext>
            </a:extLst>
          </p:cNvPr>
          <p:cNvSpPr/>
          <p:nvPr/>
        </p:nvSpPr>
        <p:spPr>
          <a:xfrm>
            <a:off x="6223000" y="1625600"/>
            <a:ext cx="5207000" cy="76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496AB94-8AD8-47B6-8819-290F9BB8966B}"/>
              </a:ext>
            </a:extLst>
          </p:cNvPr>
          <p:cNvSpPr txBox="1"/>
          <p:nvPr/>
        </p:nvSpPr>
        <p:spPr>
          <a:xfrm>
            <a:off x="6527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Automatización tradicional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E454368-0629-4BD0-9AEA-0D1BABEE432F}"/>
              </a:ext>
            </a:extLst>
          </p:cNvPr>
          <p:cNvSpPr txBox="1"/>
          <p:nvPr/>
        </p:nvSpPr>
        <p:spPr>
          <a:xfrm>
            <a:off x="6527800" y="2336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Obliga a escribir código específico para cada botón o función.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Requiere conocimientos avanzados de programación.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Alto costo inicial y difícil de mantener.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Cada cambio en la web obliga a reescribir la prueba.</a:t>
            </a:r>
            <a:endParaRPr lang="es-CL" sz="11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521612E-7637-4793-8CE2-0247A9A3E8D2}"/>
              </a:ext>
            </a:extLst>
          </p:cNvPr>
          <p:cNvSpPr/>
          <p:nvPr/>
        </p:nvSpPr>
        <p:spPr>
          <a:xfrm>
            <a:off x="762000" y="4013200"/>
            <a:ext cx="1066800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BE86EB2-BE69-4989-BCF1-A21BB411BED0}"/>
              </a:ext>
            </a:extLst>
          </p:cNvPr>
          <p:cNvSpPr txBox="1"/>
          <p:nvPr/>
        </p:nvSpPr>
        <p:spPr>
          <a:xfrm>
            <a:off x="1066800" y="416560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100" b="1">
                <a:solidFill>
                  <a:srgbClr val="06B6D4"/>
                </a:solidFill>
                <a:latin typeface="Segoe UI" panose="020B0502040204020203" pitchFamily="34" charset="0"/>
              </a:rPr>
              <a:t>LA CONSECUENCIA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789BD85-CBC8-483D-9512-13724E00F429}"/>
              </a:ext>
            </a:extLst>
          </p:cNvPr>
          <p:cNvSpPr txBox="1"/>
          <p:nvPr/>
        </p:nvSpPr>
        <p:spPr>
          <a:xfrm>
            <a:off x="1066800" y="444500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400">
                <a:solidFill>
                  <a:srgbClr val="FFFFFF"/>
                </a:solidFill>
                <a:latin typeface="Segoe UI" panose="020B0502040204020203" pitchFamily="34" charset="0"/>
              </a:rPr>
              <a:t>Ambos enfoques quitan tiempo y generan mayores gastos: las revisiones producen atrasos y muchas aplicaciones llegan a producción sin ser probadas debidamente.</a:t>
            </a:r>
            <a:endParaRPr lang="es-CL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184D3C4-C0CD-4238-8532-181F62834B31}"/>
              </a:ext>
            </a:extLst>
          </p:cNvPr>
          <p:cNvSpPr txBox="1"/>
          <p:nvPr/>
        </p:nvSpPr>
        <p:spPr>
          <a:xfrm>
            <a:off x="762000" y="52832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100" b="1">
                <a:solidFill>
                  <a:srgbClr val="64748B"/>
                </a:solidFill>
                <a:latin typeface="Segoe UI" panose="020B0502040204020203" pitchFamily="34" charset="0"/>
              </a:rPr>
              <a:t>USUARIOS AFECTADOS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C33190C-C6B6-49F5-82E6-7F94D56A5B95}"/>
              </a:ext>
            </a:extLst>
          </p:cNvPr>
          <p:cNvSpPr/>
          <p:nvPr/>
        </p:nvSpPr>
        <p:spPr>
          <a:xfrm>
            <a:off x="762000" y="5588000"/>
            <a:ext cx="2133600" cy="4318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8A5FB3E-0C4C-47A1-92B3-F30A3DA969D9}"/>
              </a:ext>
            </a:extLst>
          </p:cNvPr>
          <p:cNvSpPr txBox="1"/>
          <p:nvPr/>
        </p:nvSpPr>
        <p:spPr>
          <a:xfrm>
            <a:off x="762000" y="56896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Dueño del sitio web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E8A7AD7-45BE-4EB6-9B1E-25D284CC8D9C}"/>
              </a:ext>
            </a:extLst>
          </p:cNvPr>
          <p:cNvSpPr/>
          <p:nvPr/>
        </p:nvSpPr>
        <p:spPr>
          <a:xfrm>
            <a:off x="3060700" y="5588000"/>
            <a:ext cx="1981200" cy="4318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411E4E0-5C09-4C66-99CD-39D260F71154}"/>
              </a:ext>
            </a:extLst>
          </p:cNvPr>
          <p:cNvSpPr txBox="1"/>
          <p:nvPr/>
        </p:nvSpPr>
        <p:spPr>
          <a:xfrm>
            <a:off x="3060700" y="56896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Analista QA manual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C172F5F-C435-467E-9AC6-476F620283CB}"/>
              </a:ext>
            </a:extLst>
          </p:cNvPr>
          <p:cNvSpPr/>
          <p:nvPr/>
        </p:nvSpPr>
        <p:spPr>
          <a:xfrm>
            <a:off x="5207000" y="5588000"/>
            <a:ext cx="2387600" cy="4318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F441FAB-A75C-47D7-B635-1D9053CED957}"/>
              </a:ext>
            </a:extLst>
          </p:cNvPr>
          <p:cNvSpPr txBox="1"/>
          <p:nvPr/>
        </p:nvSpPr>
        <p:spPr>
          <a:xfrm>
            <a:off x="5207000" y="56896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Desarrollador Front-End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8439054B-76DA-48E4-A3CA-2F29DA2A1FA5}"/>
              </a:ext>
            </a:extLst>
          </p:cNvPr>
          <p:cNvSpPr/>
          <p:nvPr/>
        </p:nvSpPr>
        <p:spPr>
          <a:xfrm>
            <a:off x="7759700" y="5588000"/>
            <a:ext cx="1524000" cy="4318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C3358E0-7503-439B-B43E-36D318DB6D1F}"/>
              </a:ext>
            </a:extLst>
          </p:cNvPr>
          <p:cNvSpPr txBox="1"/>
          <p:nvPr/>
        </p:nvSpPr>
        <p:spPr>
          <a:xfrm>
            <a:off x="7759700" y="5689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Stakeholder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06017A91-8054-489E-B4E1-14E51651D87D}"/>
              </a:ext>
            </a:extLst>
          </p:cNvPr>
          <p:cNvSpPr/>
          <p:nvPr/>
        </p:nvSpPr>
        <p:spPr>
          <a:xfrm>
            <a:off x="9448800" y="5588000"/>
            <a:ext cx="1981200" cy="4318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2810150-9ADC-4592-85B0-895AC79698EE}"/>
              </a:ext>
            </a:extLst>
          </p:cNvPr>
          <p:cNvSpPr txBox="1"/>
          <p:nvPr/>
        </p:nvSpPr>
        <p:spPr>
          <a:xfrm>
            <a:off x="9448800" y="56896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Auditor de calidad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F715D2F-639F-49DE-B0CA-78B70B3FE6EA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880DB91-D702-4D73-831D-40879696250F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33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427DFD-1BE2-4F30-A624-6902D9F285A2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800" b="1">
                <a:solidFill>
                  <a:srgbClr val="0F172A"/>
                </a:solidFill>
                <a:latin typeface="Segoe UI" panose="020B0502040204020203" pitchFamily="34" charset="0"/>
              </a:rPr>
              <a:t>El producto: CACHAI-QA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CD5E1EB-44D1-4CC0-A679-E276E8451276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CF76722-4291-4A23-AD12-258B11E09602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>
                <a:solidFill>
                  <a:srgbClr val="64748B"/>
                </a:solidFill>
                <a:latin typeface="Segoe UI" panose="020B0502040204020203" pitchFamily="34" charset="0"/>
              </a:rPr>
              <a:t>Simplifica la automatización de pruebas web mediante la arquitectura Plug &amp; Play.</a:t>
            </a:r>
            <a:endParaRPr lang="es-CL" sz="12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3150B93-EEC3-4E43-9275-C61E5F1F4A8C}"/>
              </a:ext>
            </a:extLst>
          </p:cNvPr>
          <p:cNvSpPr/>
          <p:nvPr/>
        </p:nvSpPr>
        <p:spPr>
          <a:xfrm>
            <a:off x="762000" y="1651000"/>
            <a:ext cx="1981200" cy="17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E9A938-B364-4AC3-8D54-D11B23C708F5}"/>
              </a:ext>
            </a:extLst>
          </p:cNvPr>
          <p:cNvSpPr txBox="1"/>
          <p:nvPr/>
        </p:nvSpPr>
        <p:spPr>
          <a:xfrm>
            <a:off x="939800" y="1803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000" b="1">
                <a:solidFill>
                  <a:srgbClr val="4F46E5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3FCBC9-379C-4795-B254-3A1C47AEAAE8}"/>
              </a:ext>
            </a:extLst>
          </p:cNvPr>
          <p:cNvSpPr txBox="1"/>
          <p:nvPr/>
        </p:nvSpPr>
        <p:spPr>
          <a:xfrm>
            <a:off x="939800" y="2184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250" b="1">
                <a:solidFill>
                  <a:srgbClr val="1E293B"/>
                </a:solidFill>
                <a:latin typeface="Segoe UI" panose="020B0502040204020203" pitchFamily="34" charset="0"/>
              </a:rPr>
              <a:t>Configuración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CFC6B9-568F-455B-B3E6-4D838AFAD258}"/>
              </a:ext>
            </a:extLst>
          </p:cNvPr>
          <p:cNvSpPr txBox="1"/>
          <p:nvPr/>
        </p:nvSpPr>
        <p:spPr>
          <a:xfrm>
            <a:off x="939800" y="2692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00">
                <a:solidFill>
                  <a:srgbClr val="64748B"/>
                </a:solidFill>
                <a:latin typeface="Segoe UI" panose="020B0502040204020203" pitchFamily="34" charset="0"/>
              </a:rPr>
              <a:t>URL objetivo en un único archivo .env</a:t>
            </a:r>
            <a:endParaRPr lang="es-CL" sz="10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325A0BA-8C50-4EA7-A24D-40A470D3947D}"/>
              </a:ext>
            </a:extLst>
          </p:cNvPr>
          <p:cNvSpPr/>
          <p:nvPr/>
        </p:nvSpPr>
        <p:spPr>
          <a:xfrm>
            <a:off x="2933700" y="1651000"/>
            <a:ext cx="1981200" cy="17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203BC76-466C-4C0A-9FA2-438206A0DD54}"/>
              </a:ext>
            </a:extLst>
          </p:cNvPr>
          <p:cNvSpPr txBox="1"/>
          <p:nvPr/>
        </p:nvSpPr>
        <p:spPr>
          <a:xfrm>
            <a:off x="3111500" y="1803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000" b="1">
                <a:solidFill>
                  <a:srgbClr val="4F46E5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856FB10-514C-4B38-A360-97FE6D6E8192}"/>
              </a:ext>
            </a:extLst>
          </p:cNvPr>
          <p:cNvSpPr txBox="1"/>
          <p:nvPr/>
        </p:nvSpPr>
        <p:spPr>
          <a:xfrm>
            <a:off x="3111500" y="2184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250" b="1">
                <a:solidFill>
                  <a:srgbClr val="1E293B"/>
                </a:solidFill>
                <a:latin typeface="Segoe UI" panose="020B0502040204020203" pitchFamily="34" charset="0"/>
              </a:rPr>
              <a:t>Escaneo del DOM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EBA4BA-87F6-4727-BE55-123598AFFA30}"/>
              </a:ext>
            </a:extLst>
          </p:cNvPr>
          <p:cNvSpPr txBox="1"/>
          <p:nvPr/>
        </p:nvSpPr>
        <p:spPr>
          <a:xfrm>
            <a:off x="3111500" y="2692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00">
                <a:solidFill>
                  <a:srgbClr val="64748B"/>
                </a:solidFill>
                <a:latin typeface="Segoe UI" panose="020B0502040204020203" pitchFamily="34" charset="0"/>
              </a:rPr>
              <a:t>Crawler que indexa enlaces, imágenes y botones</a:t>
            </a:r>
            <a:endParaRPr lang="es-CL" sz="10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7827692-9A27-4100-BDDE-19CEE547E52A}"/>
              </a:ext>
            </a:extLst>
          </p:cNvPr>
          <p:cNvSpPr/>
          <p:nvPr/>
        </p:nvSpPr>
        <p:spPr>
          <a:xfrm>
            <a:off x="5105400" y="1651000"/>
            <a:ext cx="1981200" cy="17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47C4AA9-CBB6-4393-9D90-A92035EC8107}"/>
              </a:ext>
            </a:extLst>
          </p:cNvPr>
          <p:cNvSpPr txBox="1"/>
          <p:nvPr/>
        </p:nvSpPr>
        <p:spPr>
          <a:xfrm>
            <a:off x="5283200" y="1803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000" b="1">
                <a:solidFill>
                  <a:srgbClr val="4F46E5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BAD35F2-1D75-4874-842D-C075F0613698}"/>
              </a:ext>
            </a:extLst>
          </p:cNvPr>
          <p:cNvSpPr txBox="1"/>
          <p:nvPr/>
        </p:nvSpPr>
        <p:spPr>
          <a:xfrm>
            <a:off x="5283200" y="2184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250" b="1">
                <a:solidFill>
                  <a:srgbClr val="1E293B"/>
                </a:solidFill>
                <a:latin typeface="Segoe UI" panose="020B0502040204020203" pitchFamily="34" charset="0"/>
              </a:rPr>
              <a:t>Generación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171FD28-2C74-4EC9-8FF2-9C84EE92D5A5}"/>
              </a:ext>
            </a:extLst>
          </p:cNvPr>
          <p:cNvSpPr txBox="1"/>
          <p:nvPr/>
        </p:nvSpPr>
        <p:spPr>
          <a:xfrm>
            <a:off x="5283200" y="2692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00">
                <a:solidFill>
                  <a:srgbClr val="64748B"/>
                </a:solidFill>
                <a:latin typeface="Segoe UI" panose="020B0502040204020203" pitchFamily="34" charset="0"/>
              </a:rPr>
              <a:t>Escenarios genéricos en lenguaje natural (Gherkin)</a:t>
            </a:r>
            <a:endParaRPr lang="es-CL" sz="10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0CF919E-DF31-42A5-AD5C-EB84ED601021}"/>
              </a:ext>
            </a:extLst>
          </p:cNvPr>
          <p:cNvSpPr/>
          <p:nvPr/>
        </p:nvSpPr>
        <p:spPr>
          <a:xfrm>
            <a:off x="7277100" y="1651000"/>
            <a:ext cx="1981200" cy="17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B4320A-4568-422E-A457-29F0C64EDA01}"/>
              </a:ext>
            </a:extLst>
          </p:cNvPr>
          <p:cNvSpPr txBox="1"/>
          <p:nvPr/>
        </p:nvSpPr>
        <p:spPr>
          <a:xfrm>
            <a:off x="7454900" y="1803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000" b="1">
                <a:solidFill>
                  <a:srgbClr val="4F46E5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686B677-C065-4273-8F0D-2339E6A7CD54}"/>
              </a:ext>
            </a:extLst>
          </p:cNvPr>
          <p:cNvSpPr txBox="1"/>
          <p:nvPr/>
        </p:nvSpPr>
        <p:spPr>
          <a:xfrm>
            <a:off x="7454900" y="2184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250" b="1">
                <a:solidFill>
                  <a:srgbClr val="1E293B"/>
                </a:solidFill>
                <a:latin typeface="Segoe UI" panose="020B0502040204020203" pitchFamily="34" charset="0"/>
              </a:rPr>
              <a:t>Ejecución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FA53B1D-BB89-41BA-AE9F-7E6F61E2AC24}"/>
              </a:ext>
            </a:extLst>
          </p:cNvPr>
          <p:cNvSpPr txBox="1"/>
          <p:nvPr/>
        </p:nvSpPr>
        <p:spPr>
          <a:xfrm>
            <a:off x="7454900" y="2692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00">
                <a:solidFill>
                  <a:srgbClr val="64748B"/>
                </a:solidFill>
                <a:latin typeface="Segoe UI" panose="020B0502040204020203" pitchFamily="34" charset="0"/>
              </a:rPr>
              <a:t>Chromium en local y BrowserStack en la nube</a:t>
            </a:r>
            <a:endParaRPr lang="es-CL" sz="10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33C1AAC-63A0-4E64-A3C4-02A5A6F29668}"/>
              </a:ext>
            </a:extLst>
          </p:cNvPr>
          <p:cNvSpPr/>
          <p:nvPr/>
        </p:nvSpPr>
        <p:spPr>
          <a:xfrm>
            <a:off x="9448800" y="1651000"/>
            <a:ext cx="1981200" cy="17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64CE383-853F-46BA-B2B7-EDD00B27D259}"/>
              </a:ext>
            </a:extLst>
          </p:cNvPr>
          <p:cNvSpPr txBox="1"/>
          <p:nvPr/>
        </p:nvSpPr>
        <p:spPr>
          <a:xfrm>
            <a:off x="9626600" y="1803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000" b="1">
                <a:solidFill>
                  <a:srgbClr val="4F46E5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B8815B6-F2F1-4B0B-A9CE-891BD2481DE6}"/>
              </a:ext>
            </a:extLst>
          </p:cNvPr>
          <p:cNvSpPr txBox="1"/>
          <p:nvPr/>
        </p:nvSpPr>
        <p:spPr>
          <a:xfrm>
            <a:off x="9626600" y="2184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250" b="1">
                <a:solidFill>
                  <a:srgbClr val="1E293B"/>
                </a:solidFill>
                <a:latin typeface="Segoe UI" panose="020B0502040204020203" pitchFamily="34" charset="0"/>
              </a:rPr>
              <a:t>Diagnóstico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60D346C-37F6-4D75-B4B4-FD0ED3653142}"/>
              </a:ext>
            </a:extLst>
          </p:cNvPr>
          <p:cNvSpPr txBox="1"/>
          <p:nvPr/>
        </p:nvSpPr>
        <p:spPr>
          <a:xfrm>
            <a:off x="9626600" y="26924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00">
                <a:solidFill>
                  <a:srgbClr val="64748B"/>
                </a:solidFill>
                <a:latin typeface="Segoe UI" panose="020B0502040204020203" pitchFamily="34" charset="0"/>
              </a:rPr>
              <a:t>Panel web y reporte con evidencias</a:t>
            </a:r>
            <a:endParaRPr lang="es-CL" sz="10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EBCEA227-045F-4217-965A-873E9A8ED2D2}"/>
              </a:ext>
            </a:extLst>
          </p:cNvPr>
          <p:cNvSpPr/>
          <p:nvPr/>
        </p:nvSpPr>
        <p:spPr>
          <a:xfrm>
            <a:off x="762000" y="3632200"/>
            <a:ext cx="10668000" cy="1092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9AA5B94-DD18-47C1-99C7-BC34E9913936}"/>
              </a:ext>
            </a:extLst>
          </p:cNvPr>
          <p:cNvSpPr txBox="1"/>
          <p:nvPr/>
        </p:nvSpPr>
        <p:spPr>
          <a:xfrm>
            <a:off x="1041400" y="37846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PROPUESTA DE VALOR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A31D41E-F68D-4BD9-A3B6-8120EB20A60B}"/>
              </a:ext>
            </a:extLst>
          </p:cNvPr>
          <p:cNvSpPr txBox="1"/>
          <p:nvPr/>
        </p:nvSpPr>
        <p:spPr>
          <a:xfrm>
            <a:off x="1041400" y="40640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400" b="1">
                <a:solidFill>
                  <a:srgbClr val="1E293B"/>
                </a:solidFill>
                <a:latin typeface="Segoe UI" panose="020B0502040204020203" pitchFamily="34" charset="0"/>
              </a:rPr>
              <a:t>“CACHAI-QA automatiza las pruebas de una página web: cualquier persona detecta problemas de forma rápida, simple y sin saber programar.”</a:t>
            </a:r>
            <a:endParaRPr lang="es-CL" sz="1400" b="1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0F3CAA93-7CB8-4C9E-A9FF-B29A8CDF355D}"/>
              </a:ext>
            </a:extLst>
          </p:cNvPr>
          <p:cNvSpPr/>
          <p:nvPr/>
        </p:nvSpPr>
        <p:spPr>
          <a:xfrm>
            <a:off x="762000" y="4902200"/>
            <a:ext cx="10668000" cy="1092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0C23AE4-6AAA-4F10-82D2-A97167ECB838}"/>
              </a:ext>
            </a:extLst>
          </p:cNvPr>
          <p:cNvSpPr txBox="1"/>
          <p:nvPr/>
        </p:nvSpPr>
        <p:spPr>
          <a:xfrm>
            <a:off x="1041400" y="50546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06B6D4"/>
                </a:solidFill>
                <a:latin typeface="Segoe UI" panose="020B0502040204020203" pitchFamily="34" charset="0"/>
              </a:rPr>
              <a:t>OBJETIVO GENERAL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1B87A72-48C0-426F-90C2-E136F5AE4EED}"/>
              </a:ext>
            </a:extLst>
          </p:cNvPr>
          <p:cNvSpPr txBox="1"/>
          <p:nvPr/>
        </p:nvSpPr>
        <p:spPr>
          <a:xfrm>
            <a:off x="1041400" y="53340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Desarrollar e implementar el framework CACHAI-QA, que a partir de una URL escanee el sitio, genere y ejecute pruebas automatizadas y entregue un reporte del estado de salud de la página.</a:t>
            </a:r>
            <a:endParaRPr lang="es-CL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4D889FD-538B-4B42-B49E-0139EEC5766B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0901909-B8D1-4C77-B57D-923D35BA9A62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02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9AD2C7-56C6-466F-B3D3-6702706C6519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2800" b="1">
                <a:solidFill>
                  <a:srgbClr val="0F172A"/>
                </a:solidFill>
                <a:latin typeface="Segoe UI" panose="020B0502040204020203" pitchFamily="34" charset="0"/>
              </a:rPr>
              <a:t>Arquitectura y diseño del sistema</a:t>
            </a:r>
            <a:endParaRPr lang="es-CL" sz="28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CCD8B20-B293-44F9-9831-ECE8E9066730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D67EBBA-77FC-4812-A153-45D826FF0505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250" dirty="0">
                <a:solidFill>
                  <a:srgbClr val="64748B"/>
                </a:solidFill>
                <a:latin typeface="Segoe UI" panose="020B0502040204020203" pitchFamily="34" charset="0"/>
              </a:rPr>
              <a:t>Diseño documentado con UML arquitectura modular de componentes independientes.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766A509-A60E-4179-92EC-3C06A0BF633D}"/>
              </a:ext>
            </a:extLst>
          </p:cNvPr>
          <p:cNvSpPr/>
          <p:nvPr/>
        </p:nvSpPr>
        <p:spPr>
          <a:xfrm>
            <a:off x="762000" y="1625600"/>
            <a:ext cx="5207000" cy="332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7C97434-B223-474E-B85A-256E12133B42}"/>
              </a:ext>
            </a:extLst>
          </p:cNvPr>
          <p:cNvSpPr/>
          <p:nvPr/>
        </p:nvSpPr>
        <p:spPr>
          <a:xfrm>
            <a:off x="762000" y="1625600"/>
            <a:ext cx="5207000" cy="635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7B6FEF-9E7E-4125-9440-5F4F0025F544}"/>
              </a:ext>
            </a:extLst>
          </p:cNvPr>
          <p:cNvSpPr txBox="1"/>
          <p:nvPr/>
        </p:nvSpPr>
        <p:spPr>
          <a:xfrm>
            <a:off x="1066800" y="18796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Componentes del framework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E843057-A243-4F0B-9A04-403A35BBA89C}"/>
              </a:ext>
            </a:extLst>
          </p:cNvPr>
          <p:cNvSpPr txBox="1"/>
          <p:nvPr/>
        </p:nvSpPr>
        <p:spPr>
          <a:xfrm>
            <a:off x="1066800" y="2336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Configuración — archivo .env con la URL y los parámetros.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Crawler y escaneador de página.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Generador de pruebas (BDD).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Ejecutor de pruebas y adaptador BrowserStack.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Recolector de reportes y panel de control.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Almacén de reportes y JSON de escaneo.</a:t>
            </a:r>
            <a:endParaRPr lang="es-CL" sz="11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263DA90-7A33-4E2C-AD63-27B8BD4D52FA}"/>
              </a:ext>
            </a:extLst>
          </p:cNvPr>
          <p:cNvSpPr/>
          <p:nvPr/>
        </p:nvSpPr>
        <p:spPr>
          <a:xfrm>
            <a:off x="6223000" y="1625600"/>
            <a:ext cx="5207000" cy="3327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104E61E-BFC9-4FF4-882B-AD50948C8BCA}"/>
              </a:ext>
            </a:extLst>
          </p:cNvPr>
          <p:cNvSpPr/>
          <p:nvPr/>
        </p:nvSpPr>
        <p:spPr>
          <a:xfrm>
            <a:off x="6223000" y="1625600"/>
            <a:ext cx="5207000" cy="635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0C2EE73-DD5B-4FF8-A18F-83E6E1E997F8}"/>
              </a:ext>
            </a:extLst>
          </p:cNvPr>
          <p:cNvSpPr txBox="1"/>
          <p:nvPr/>
        </p:nvSpPr>
        <p:spPr>
          <a:xfrm>
            <a:off x="6527800" y="18796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Vistas del diseño (UML)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B8CD40C-2478-4E36-B7C3-5366BE8EAAB1}"/>
              </a:ext>
            </a:extLst>
          </p:cNvPr>
          <p:cNvSpPr txBox="1"/>
          <p:nvPr/>
        </p:nvSpPr>
        <p:spPr>
          <a:xfrm>
            <a:off x="6527800" y="2336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Casos de uso — 5 actores y sus interacciones.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Modelo E-R — ESCANEO, PAGINA, ELEMENTO, PRUEBA, RESULTADO y REPORTE.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Diagrama de clases — componentes, atributos y dependencias.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Diagrama de secuencia — flujo completo de ejecución.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Diagrama de componentes — despliegue y dependencias.</a:t>
            </a:r>
            <a:endParaRPr lang="es-CL" sz="11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723A83F-5DF9-4DF3-A447-9AC49765074C}"/>
              </a:ext>
            </a:extLst>
          </p:cNvPr>
          <p:cNvSpPr txBox="1"/>
          <p:nvPr/>
        </p:nvSpPr>
        <p:spPr>
          <a:xfrm>
            <a:off x="762000" y="51562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64748B"/>
                </a:solidFill>
                <a:latin typeface="Segoe UI" panose="020B0502040204020203" pitchFamily="34" charset="0"/>
              </a:rPr>
              <a:t>TECNOLOGÍAS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F46E9D4-923C-4D44-9D2F-F5773E5F700C}"/>
              </a:ext>
            </a:extLst>
          </p:cNvPr>
          <p:cNvSpPr/>
          <p:nvPr/>
        </p:nvSpPr>
        <p:spPr>
          <a:xfrm>
            <a:off x="762000" y="5435600"/>
            <a:ext cx="1397000" cy="4064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99AA0B1-920A-4F61-ADF8-CF203ED06599}"/>
              </a:ext>
            </a:extLst>
          </p:cNvPr>
          <p:cNvSpPr txBox="1"/>
          <p:nvPr/>
        </p:nvSpPr>
        <p:spPr>
          <a:xfrm>
            <a:off x="762000" y="5524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TypeScript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D27CDC4-B662-48DF-8E71-7F6178CE8134}"/>
              </a:ext>
            </a:extLst>
          </p:cNvPr>
          <p:cNvSpPr/>
          <p:nvPr/>
        </p:nvSpPr>
        <p:spPr>
          <a:xfrm>
            <a:off x="2286000" y="5435600"/>
            <a:ext cx="1143000" cy="4064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B49D282-4B80-4019-A6A7-2FB2473BC967}"/>
              </a:ext>
            </a:extLst>
          </p:cNvPr>
          <p:cNvSpPr txBox="1"/>
          <p:nvPr/>
        </p:nvSpPr>
        <p:spPr>
          <a:xfrm>
            <a:off x="2286000" y="5524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Node.js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F78FF39-D03E-45E8-B957-D54F29E23C57}"/>
              </a:ext>
            </a:extLst>
          </p:cNvPr>
          <p:cNvSpPr/>
          <p:nvPr/>
        </p:nvSpPr>
        <p:spPr>
          <a:xfrm>
            <a:off x="3556000" y="5435600"/>
            <a:ext cx="1397000" cy="4064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6FF595C-484B-45AA-8542-CAA60FF62305}"/>
              </a:ext>
            </a:extLst>
          </p:cNvPr>
          <p:cNvSpPr txBox="1"/>
          <p:nvPr/>
        </p:nvSpPr>
        <p:spPr>
          <a:xfrm>
            <a:off x="3556000" y="5524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Playwright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4586C43-0484-4F6D-9FBC-34088EBFB282}"/>
              </a:ext>
            </a:extLst>
          </p:cNvPr>
          <p:cNvSpPr/>
          <p:nvPr/>
        </p:nvSpPr>
        <p:spPr>
          <a:xfrm>
            <a:off x="5080000" y="5435600"/>
            <a:ext cx="2095500" cy="4064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C1FEA7-6B1E-4793-8032-03F47B3C7FF2}"/>
              </a:ext>
            </a:extLst>
          </p:cNvPr>
          <p:cNvSpPr txBox="1"/>
          <p:nvPr/>
        </p:nvSpPr>
        <p:spPr>
          <a:xfrm>
            <a:off x="5080000" y="5524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Page Object Model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B7B74326-D0F9-4774-B5F3-15E9FBC7A85A}"/>
              </a:ext>
            </a:extLst>
          </p:cNvPr>
          <p:cNvSpPr/>
          <p:nvPr/>
        </p:nvSpPr>
        <p:spPr>
          <a:xfrm>
            <a:off x="7302500" y="5435600"/>
            <a:ext cx="1714500" cy="4064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2201DCC-8082-4D3B-9DC8-65EADB2F3EE4}"/>
              </a:ext>
            </a:extLst>
          </p:cNvPr>
          <p:cNvSpPr txBox="1"/>
          <p:nvPr/>
        </p:nvSpPr>
        <p:spPr>
          <a:xfrm>
            <a:off x="7302500" y="5524500"/>
            <a:ext cx="171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Lenguaje natural (BDD)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430F1207-BE8E-4BCD-AFC0-DAE2151A48A0}"/>
              </a:ext>
            </a:extLst>
          </p:cNvPr>
          <p:cNvSpPr/>
          <p:nvPr/>
        </p:nvSpPr>
        <p:spPr>
          <a:xfrm>
            <a:off x="9144000" y="5435600"/>
            <a:ext cx="1651000" cy="4064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E42E835-C09B-4690-852A-1D1DFAB0AEE4}"/>
              </a:ext>
            </a:extLst>
          </p:cNvPr>
          <p:cNvSpPr txBox="1"/>
          <p:nvPr/>
        </p:nvSpPr>
        <p:spPr>
          <a:xfrm>
            <a:off x="9144000" y="55245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BrowserStack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8381280-EA18-4206-BE0A-B3394182173E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9724EC-629E-4943-B0C9-4F8B7B99792B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1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DB2F78-F546-4934-BB77-C4B6CF6081F6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800" b="1">
                <a:solidFill>
                  <a:srgbClr val="0F172A"/>
                </a:solidFill>
                <a:latin typeface="Segoe UI" panose="020B0502040204020203" pitchFamily="34" charset="0"/>
              </a:rPr>
              <a:t>Gestión ágil: Product Backlog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55476C4-594C-4315-AF77-6EAB3A899224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1D9D37-4172-411B-8457-52F443246B89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>
                <a:solidFill>
                  <a:srgbClr val="64748B"/>
                </a:solidFill>
                <a:latin typeface="Segoe UI" panose="020B0502040204020203" pitchFamily="34" charset="0"/>
              </a:rPr>
              <a:t>7 épicas dimensionadas con Poker Planning y 8 historias de usuario priorizadas en 4 sprints.</a:t>
            </a:r>
            <a:endParaRPr lang="es-CL" sz="12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89D094-4AE0-4F34-9600-489F5B3284B6}"/>
              </a:ext>
            </a:extLst>
          </p:cNvPr>
          <p:cNvSpPr/>
          <p:nvPr/>
        </p:nvSpPr>
        <p:spPr>
          <a:xfrm>
            <a:off x="762000" y="1676400"/>
            <a:ext cx="10668000" cy="355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4767BD-42C9-4F98-9471-C66DC576EBD8}"/>
              </a:ext>
            </a:extLst>
          </p:cNvPr>
          <p:cNvSpPr txBox="1"/>
          <p:nvPr/>
        </p:nvSpPr>
        <p:spPr>
          <a:xfrm>
            <a:off x="965200" y="1752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100" b="1">
                <a:solidFill>
                  <a:srgbClr val="FFFFFF"/>
                </a:solidFill>
                <a:latin typeface="Segoe UI" panose="020B0502040204020203" pitchFamily="34" charset="0"/>
              </a:rPr>
              <a:t>ID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C1034F-F053-43A1-861F-CEE8A2E63DBD}"/>
              </a:ext>
            </a:extLst>
          </p:cNvPr>
          <p:cNvSpPr txBox="1"/>
          <p:nvPr/>
        </p:nvSpPr>
        <p:spPr>
          <a:xfrm>
            <a:off x="1905000" y="1752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100" b="1">
                <a:solidFill>
                  <a:srgbClr val="FFFFFF"/>
                </a:solidFill>
                <a:latin typeface="Segoe UI" panose="020B0502040204020203" pitchFamily="34" charset="0"/>
              </a:rPr>
              <a:t>Historia de usuario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2B1FCE1-3756-4AA4-B8E9-2C8814138A23}"/>
              </a:ext>
            </a:extLst>
          </p:cNvPr>
          <p:cNvSpPr txBox="1"/>
          <p:nvPr/>
        </p:nvSpPr>
        <p:spPr>
          <a:xfrm>
            <a:off x="8382000" y="17526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FFFFFF"/>
                </a:solidFill>
                <a:latin typeface="Segoe UI" panose="020B0502040204020203" pitchFamily="34" charset="0"/>
              </a:rPr>
              <a:t>Peso (PF)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854CDF-5784-4579-BFA7-015F0B0B9430}"/>
              </a:ext>
            </a:extLst>
          </p:cNvPr>
          <p:cNvSpPr txBox="1"/>
          <p:nvPr/>
        </p:nvSpPr>
        <p:spPr>
          <a:xfrm>
            <a:off x="9855200" y="17526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FFFFFF"/>
                </a:solidFill>
                <a:latin typeface="Segoe UI" panose="020B0502040204020203" pitchFamily="34" charset="0"/>
              </a:rPr>
              <a:t>Sprint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83743B-6AF1-4604-A9DB-25698961036B}"/>
              </a:ext>
            </a:extLst>
          </p:cNvPr>
          <p:cNvSpPr/>
          <p:nvPr/>
        </p:nvSpPr>
        <p:spPr>
          <a:xfrm>
            <a:off x="762000" y="2032000"/>
            <a:ext cx="10668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950D56-EAEA-40DC-85B7-EC3BA7CA6A76}"/>
              </a:ext>
            </a:extLst>
          </p:cNvPr>
          <p:cNvSpPr txBox="1"/>
          <p:nvPr/>
        </p:nvSpPr>
        <p:spPr>
          <a:xfrm>
            <a:off x="965200" y="2133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HU-001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D16EB57-6951-4912-BCC3-6E2B641357E7}"/>
              </a:ext>
            </a:extLst>
          </p:cNvPr>
          <p:cNvSpPr txBox="1"/>
          <p:nvPr/>
        </p:nvSpPr>
        <p:spPr>
          <a:xfrm>
            <a:off x="1905000" y="2133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>
                <a:solidFill>
                  <a:srgbClr val="334155"/>
                </a:solidFill>
                <a:latin typeface="Segoe UI" panose="020B0502040204020203" pitchFamily="34" charset="0"/>
              </a:rPr>
              <a:t>Configuración Plug &amp; Play y recepción de URL</a:t>
            </a:r>
            <a:endParaRPr lang="es-CL" sz="10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F87B1E6-DC79-4E42-A4A5-752D74CEE7F8}"/>
              </a:ext>
            </a:extLst>
          </p:cNvPr>
          <p:cNvSpPr txBox="1"/>
          <p:nvPr/>
        </p:nvSpPr>
        <p:spPr>
          <a:xfrm>
            <a:off x="8382000" y="21336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 b="1">
                <a:solidFill>
                  <a:srgbClr val="1E293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FD7A1FF-540C-48F0-AAA2-66A689E67B0E}"/>
              </a:ext>
            </a:extLst>
          </p:cNvPr>
          <p:cNvSpPr txBox="1"/>
          <p:nvPr/>
        </p:nvSpPr>
        <p:spPr>
          <a:xfrm>
            <a:off x="9855200" y="21336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>
                <a:solidFill>
                  <a:srgbClr val="64748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B38D0C2-DBF9-4FE1-98EC-D824F691E0C3}"/>
              </a:ext>
            </a:extLst>
          </p:cNvPr>
          <p:cNvSpPr/>
          <p:nvPr/>
        </p:nvSpPr>
        <p:spPr>
          <a:xfrm>
            <a:off x="762000" y="24511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B74EEBE-9878-4782-A77A-ACC255EF23A7}"/>
              </a:ext>
            </a:extLst>
          </p:cNvPr>
          <p:cNvSpPr/>
          <p:nvPr/>
        </p:nvSpPr>
        <p:spPr>
          <a:xfrm>
            <a:off x="762000" y="2451100"/>
            <a:ext cx="10668000" cy="419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E826D05-B5B7-41CF-BCE9-DC73FD8FC2E7}"/>
              </a:ext>
            </a:extLst>
          </p:cNvPr>
          <p:cNvSpPr txBox="1"/>
          <p:nvPr/>
        </p:nvSpPr>
        <p:spPr>
          <a:xfrm>
            <a:off x="965200" y="25527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HU-002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56DE97F-5847-44F6-9FC0-43086121BAE3}"/>
              </a:ext>
            </a:extLst>
          </p:cNvPr>
          <p:cNvSpPr txBox="1"/>
          <p:nvPr/>
        </p:nvSpPr>
        <p:spPr>
          <a:xfrm>
            <a:off x="1905000" y="2552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>
                <a:solidFill>
                  <a:srgbClr val="334155"/>
                </a:solidFill>
                <a:latin typeface="Segoe UI" panose="020B0502040204020203" pitchFamily="34" charset="0"/>
              </a:rPr>
              <a:t>Escaneo automático de enlaces del DOM</a:t>
            </a:r>
            <a:endParaRPr lang="es-CL" sz="10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546C45-4624-41C0-9F42-86B08061780D}"/>
              </a:ext>
            </a:extLst>
          </p:cNvPr>
          <p:cNvSpPr txBox="1"/>
          <p:nvPr/>
        </p:nvSpPr>
        <p:spPr>
          <a:xfrm>
            <a:off x="8382000" y="25527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 b="1">
                <a:solidFill>
                  <a:srgbClr val="1E293B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89D936B-F186-4144-BD6E-3A31EC7D7A3E}"/>
              </a:ext>
            </a:extLst>
          </p:cNvPr>
          <p:cNvSpPr txBox="1"/>
          <p:nvPr/>
        </p:nvSpPr>
        <p:spPr>
          <a:xfrm>
            <a:off x="9855200" y="25527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>
                <a:solidFill>
                  <a:srgbClr val="64748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B0B91DC-F751-4DD9-91D4-89FB716D1F28}"/>
              </a:ext>
            </a:extLst>
          </p:cNvPr>
          <p:cNvSpPr/>
          <p:nvPr/>
        </p:nvSpPr>
        <p:spPr>
          <a:xfrm>
            <a:off x="762000" y="28702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111F88-0D7F-4160-93C7-3A69CE98E97D}"/>
              </a:ext>
            </a:extLst>
          </p:cNvPr>
          <p:cNvSpPr/>
          <p:nvPr/>
        </p:nvSpPr>
        <p:spPr>
          <a:xfrm>
            <a:off x="762000" y="2870200"/>
            <a:ext cx="10668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AE97E8C-2B7B-4EB2-A0D3-22FA10B201CD}"/>
              </a:ext>
            </a:extLst>
          </p:cNvPr>
          <p:cNvSpPr txBox="1"/>
          <p:nvPr/>
        </p:nvSpPr>
        <p:spPr>
          <a:xfrm>
            <a:off x="965200" y="2971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HU-003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F5FB3BA-FBAE-44FB-9A4E-A1C565DD86A0}"/>
              </a:ext>
            </a:extLst>
          </p:cNvPr>
          <p:cNvSpPr txBox="1"/>
          <p:nvPr/>
        </p:nvSpPr>
        <p:spPr>
          <a:xfrm>
            <a:off x="1905000" y="29718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>
                <a:solidFill>
                  <a:srgbClr val="334155"/>
                </a:solidFill>
                <a:latin typeface="Segoe UI" panose="020B0502040204020203" pitchFamily="34" charset="0"/>
              </a:rPr>
              <a:t>Identificación de componentes interactivos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E858C91-3DA8-4D67-BF32-08C9D2CD7AEC}"/>
              </a:ext>
            </a:extLst>
          </p:cNvPr>
          <p:cNvSpPr txBox="1"/>
          <p:nvPr/>
        </p:nvSpPr>
        <p:spPr>
          <a:xfrm>
            <a:off x="8382000" y="2971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 b="1">
                <a:solidFill>
                  <a:srgbClr val="1E293B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A8F2E86-FCB7-44D6-AD10-14EDBC62CFEC}"/>
              </a:ext>
            </a:extLst>
          </p:cNvPr>
          <p:cNvSpPr txBox="1"/>
          <p:nvPr/>
        </p:nvSpPr>
        <p:spPr>
          <a:xfrm>
            <a:off x="9855200" y="29718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>
                <a:solidFill>
                  <a:srgbClr val="6474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8A2F862-A1BC-44B8-ACDB-6A1B2B624F51}"/>
              </a:ext>
            </a:extLst>
          </p:cNvPr>
          <p:cNvSpPr/>
          <p:nvPr/>
        </p:nvSpPr>
        <p:spPr>
          <a:xfrm>
            <a:off x="762000" y="32893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C783C1D-7C8A-4E53-B8C7-9B831B294D7F}"/>
              </a:ext>
            </a:extLst>
          </p:cNvPr>
          <p:cNvSpPr/>
          <p:nvPr/>
        </p:nvSpPr>
        <p:spPr>
          <a:xfrm>
            <a:off x="762000" y="3289300"/>
            <a:ext cx="10668000" cy="419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36EF703-0BF5-4090-9520-5393EFB60F6B}"/>
              </a:ext>
            </a:extLst>
          </p:cNvPr>
          <p:cNvSpPr txBox="1"/>
          <p:nvPr/>
        </p:nvSpPr>
        <p:spPr>
          <a:xfrm>
            <a:off x="965200" y="33909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HU-004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16A497C-F978-4AB9-8721-524DE6C50DFF}"/>
              </a:ext>
            </a:extLst>
          </p:cNvPr>
          <p:cNvSpPr txBox="1"/>
          <p:nvPr/>
        </p:nvSpPr>
        <p:spPr>
          <a:xfrm>
            <a:off x="1905000" y="33909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>
                <a:solidFill>
                  <a:srgbClr val="334155"/>
                </a:solidFill>
                <a:latin typeface="Segoe UI" panose="020B0502040204020203" pitchFamily="34" charset="0"/>
              </a:rPr>
              <a:t>Escenarios genéricos de prueba en lenguaje natural</a:t>
            </a:r>
            <a:endParaRPr lang="es-CL" sz="10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7B08978-3760-45EE-80C1-DEFAA83D6A4C}"/>
              </a:ext>
            </a:extLst>
          </p:cNvPr>
          <p:cNvSpPr txBox="1"/>
          <p:nvPr/>
        </p:nvSpPr>
        <p:spPr>
          <a:xfrm>
            <a:off x="8382000" y="3390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 b="1">
                <a:solidFill>
                  <a:srgbClr val="1E293B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EAC1722-3C94-4079-AA4F-DD94D97CD95B}"/>
              </a:ext>
            </a:extLst>
          </p:cNvPr>
          <p:cNvSpPr txBox="1"/>
          <p:nvPr/>
        </p:nvSpPr>
        <p:spPr>
          <a:xfrm>
            <a:off x="9855200" y="33909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>
                <a:solidFill>
                  <a:srgbClr val="64748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BDC9CFD-5A29-4FCE-A505-06949BBA33AF}"/>
              </a:ext>
            </a:extLst>
          </p:cNvPr>
          <p:cNvSpPr/>
          <p:nvPr/>
        </p:nvSpPr>
        <p:spPr>
          <a:xfrm>
            <a:off x="762000" y="3708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B527-982D-44BD-B877-C1FE660A5AD6}"/>
              </a:ext>
            </a:extLst>
          </p:cNvPr>
          <p:cNvSpPr/>
          <p:nvPr/>
        </p:nvSpPr>
        <p:spPr>
          <a:xfrm>
            <a:off x="762000" y="3708400"/>
            <a:ext cx="10668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6A00FFB-FC97-4A5E-AD75-56F7DA1C3830}"/>
              </a:ext>
            </a:extLst>
          </p:cNvPr>
          <p:cNvSpPr txBox="1"/>
          <p:nvPr/>
        </p:nvSpPr>
        <p:spPr>
          <a:xfrm>
            <a:off x="965200" y="38100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HU-005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A19034A-A26C-44FF-A5F2-07D8AF1E55A2}"/>
              </a:ext>
            </a:extLst>
          </p:cNvPr>
          <p:cNvSpPr txBox="1"/>
          <p:nvPr/>
        </p:nvSpPr>
        <p:spPr>
          <a:xfrm>
            <a:off x="1905000" y="3810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>
                <a:solidFill>
                  <a:srgbClr val="334155"/>
                </a:solidFill>
                <a:latin typeface="Segoe UI" panose="020B0502040204020203" pitchFamily="34" charset="0"/>
              </a:rPr>
              <a:t>Esperas inteligentes y pruebas deterministas</a:t>
            </a:r>
            <a:endParaRPr lang="es-CL" sz="10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82BF6A9-103B-4365-9A8B-0195BB37E2BD}"/>
              </a:ext>
            </a:extLst>
          </p:cNvPr>
          <p:cNvSpPr txBox="1"/>
          <p:nvPr/>
        </p:nvSpPr>
        <p:spPr>
          <a:xfrm>
            <a:off x="8382000" y="3810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 b="1">
                <a:solidFill>
                  <a:srgbClr val="1E293B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E1FEFCC-8822-411D-BD13-E4859E8053AA}"/>
              </a:ext>
            </a:extLst>
          </p:cNvPr>
          <p:cNvSpPr txBox="1"/>
          <p:nvPr/>
        </p:nvSpPr>
        <p:spPr>
          <a:xfrm>
            <a:off x="9855200" y="38100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>
                <a:solidFill>
                  <a:srgbClr val="6474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F3AAE95-8338-4E82-86D7-C3802E03F464}"/>
              </a:ext>
            </a:extLst>
          </p:cNvPr>
          <p:cNvSpPr/>
          <p:nvPr/>
        </p:nvSpPr>
        <p:spPr>
          <a:xfrm>
            <a:off x="762000" y="41275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C3D4F4E8-1344-48A1-8E78-835A42129D29}"/>
              </a:ext>
            </a:extLst>
          </p:cNvPr>
          <p:cNvSpPr/>
          <p:nvPr/>
        </p:nvSpPr>
        <p:spPr>
          <a:xfrm>
            <a:off x="762000" y="4127500"/>
            <a:ext cx="10668000" cy="419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9C92D53-928D-417B-A33B-E9333FFADDFD}"/>
              </a:ext>
            </a:extLst>
          </p:cNvPr>
          <p:cNvSpPr txBox="1"/>
          <p:nvPr/>
        </p:nvSpPr>
        <p:spPr>
          <a:xfrm>
            <a:off x="965200" y="42291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HU-006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5893D31-28F5-4F34-A9AE-E2277117D261}"/>
              </a:ext>
            </a:extLst>
          </p:cNvPr>
          <p:cNvSpPr txBox="1"/>
          <p:nvPr/>
        </p:nvSpPr>
        <p:spPr>
          <a:xfrm>
            <a:off x="1905000" y="42291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>
                <a:solidFill>
                  <a:srgbClr val="334155"/>
                </a:solidFill>
                <a:latin typeface="Segoe UI" panose="020B0502040204020203" pitchFamily="34" charset="0"/>
              </a:rPr>
              <a:t>Parametrización dinámica del volumen de pruebas</a:t>
            </a:r>
            <a:endParaRPr lang="es-CL" sz="10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789F27B-6BA3-4891-8409-56C330EBFDD8}"/>
              </a:ext>
            </a:extLst>
          </p:cNvPr>
          <p:cNvSpPr txBox="1"/>
          <p:nvPr/>
        </p:nvSpPr>
        <p:spPr>
          <a:xfrm>
            <a:off x="8382000" y="42291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 b="1">
                <a:solidFill>
                  <a:srgbClr val="1E293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E681CD2-2DC3-46E2-94B9-EB029171A35F}"/>
              </a:ext>
            </a:extLst>
          </p:cNvPr>
          <p:cNvSpPr txBox="1"/>
          <p:nvPr/>
        </p:nvSpPr>
        <p:spPr>
          <a:xfrm>
            <a:off x="9855200" y="42291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>
                <a:solidFill>
                  <a:srgbClr val="64748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046B959-4F8F-4D2C-B313-A8281F26CF67}"/>
              </a:ext>
            </a:extLst>
          </p:cNvPr>
          <p:cNvSpPr/>
          <p:nvPr/>
        </p:nvSpPr>
        <p:spPr>
          <a:xfrm>
            <a:off x="762000" y="45466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076361E1-0673-48C6-A211-CB5FC4979F3B}"/>
              </a:ext>
            </a:extLst>
          </p:cNvPr>
          <p:cNvSpPr/>
          <p:nvPr/>
        </p:nvSpPr>
        <p:spPr>
          <a:xfrm>
            <a:off x="762000" y="4546600"/>
            <a:ext cx="10668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173A1DF-5144-4B4E-9F07-0BBA63A7E08B}"/>
              </a:ext>
            </a:extLst>
          </p:cNvPr>
          <p:cNvSpPr txBox="1"/>
          <p:nvPr/>
        </p:nvSpPr>
        <p:spPr>
          <a:xfrm>
            <a:off x="965200" y="46482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HU-007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2A8609D-CA85-4BF0-A29C-CA1AD630B664}"/>
              </a:ext>
            </a:extLst>
          </p:cNvPr>
          <p:cNvSpPr txBox="1"/>
          <p:nvPr/>
        </p:nvSpPr>
        <p:spPr>
          <a:xfrm>
            <a:off x="1905000" y="4648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>
                <a:solidFill>
                  <a:srgbClr val="334155"/>
                </a:solidFill>
                <a:latin typeface="Segoe UI" panose="020B0502040204020203" pitchFamily="34" charset="0"/>
              </a:rPr>
              <a:t>Ejecución cross-browser en la nube</a:t>
            </a:r>
            <a:endParaRPr lang="es-CL" sz="10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A0D83D0-8B75-49A7-83B3-75CA8B7830CB}"/>
              </a:ext>
            </a:extLst>
          </p:cNvPr>
          <p:cNvSpPr txBox="1"/>
          <p:nvPr/>
        </p:nvSpPr>
        <p:spPr>
          <a:xfrm>
            <a:off x="8382000" y="46482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 b="1">
                <a:solidFill>
                  <a:srgbClr val="1E293B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FAE8986-2293-4695-A35B-709A6FD5C4D6}"/>
              </a:ext>
            </a:extLst>
          </p:cNvPr>
          <p:cNvSpPr txBox="1"/>
          <p:nvPr/>
        </p:nvSpPr>
        <p:spPr>
          <a:xfrm>
            <a:off x="9855200" y="46482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>
                <a:solidFill>
                  <a:srgbClr val="6474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41124AB5-D8AF-4DB9-B89B-136AEA2A3220}"/>
              </a:ext>
            </a:extLst>
          </p:cNvPr>
          <p:cNvSpPr/>
          <p:nvPr/>
        </p:nvSpPr>
        <p:spPr>
          <a:xfrm>
            <a:off x="762000" y="49657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60D9BD9-2156-4AE6-A93F-C73FFD3438CC}"/>
              </a:ext>
            </a:extLst>
          </p:cNvPr>
          <p:cNvSpPr/>
          <p:nvPr/>
        </p:nvSpPr>
        <p:spPr>
          <a:xfrm>
            <a:off x="762000" y="4965700"/>
            <a:ext cx="10668000" cy="419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E148613-1CA5-4CCE-8173-80720B8482D3}"/>
              </a:ext>
            </a:extLst>
          </p:cNvPr>
          <p:cNvSpPr txBox="1"/>
          <p:nvPr/>
        </p:nvSpPr>
        <p:spPr>
          <a:xfrm>
            <a:off x="965200" y="50673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HU-008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5464FB7-F874-411F-B185-A306CFDCA902}"/>
              </a:ext>
            </a:extLst>
          </p:cNvPr>
          <p:cNvSpPr txBox="1"/>
          <p:nvPr/>
        </p:nvSpPr>
        <p:spPr>
          <a:xfrm>
            <a:off x="1905000" y="50673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>
                <a:solidFill>
                  <a:srgbClr val="334155"/>
                </a:solidFill>
                <a:latin typeface="Segoe UI" panose="020B0502040204020203" pitchFamily="34" charset="0"/>
              </a:rPr>
              <a:t>Diagnóstico y reportes con evidencias</a:t>
            </a:r>
            <a:endParaRPr lang="es-CL" sz="10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A9E48FB-C3CD-438C-90AD-79CD4C2A0754}"/>
              </a:ext>
            </a:extLst>
          </p:cNvPr>
          <p:cNvSpPr txBox="1"/>
          <p:nvPr/>
        </p:nvSpPr>
        <p:spPr>
          <a:xfrm>
            <a:off x="8382000" y="50673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 b="1">
                <a:solidFill>
                  <a:srgbClr val="1E293B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26FC1F7-412E-4D24-806A-08E37DFFC777}"/>
              </a:ext>
            </a:extLst>
          </p:cNvPr>
          <p:cNvSpPr txBox="1"/>
          <p:nvPr/>
        </p:nvSpPr>
        <p:spPr>
          <a:xfrm>
            <a:off x="9855200" y="50673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050">
                <a:solidFill>
                  <a:srgbClr val="64748B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D6E1C024-D191-48FE-A93A-7693DFB9E1E6}"/>
              </a:ext>
            </a:extLst>
          </p:cNvPr>
          <p:cNvSpPr/>
          <p:nvPr/>
        </p:nvSpPr>
        <p:spPr>
          <a:xfrm>
            <a:off x="762000" y="5384800"/>
            <a:ext cx="10668000" cy="431800"/>
          </a:xfrm>
          <a:prstGeom prst="rect">
            <a:avLst/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907896F-9A0E-485F-9E46-3C2AA9F261C0}"/>
              </a:ext>
            </a:extLst>
          </p:cNvPr>
          <p:cNvSpPr txBox="1"/>
          <p:nvPr/>
        </p:nvSpPr>
        <p:spPr>
          <a:xfrm>
            <a:off x="965200" y="54864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8 historias de usuario  ·  4 sprints  ·  épicas EP-001 a EP-007 (37 PF)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D499A57-49FE-45A6-9A79-7CA1E7FB4FA0}"/>
              </a:ext>
            </a:extLst>
          </p:cNvPr>
          <p:cNvSpPr txBox="1"/>
          <p:nvPr/>
        </p:nvSpPr>
        <p:spPr>
          <a:xfrm>
            <a:off x="8382000" y="5486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42 PF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33343820-1924-4CEA-8EAD-50773B1F3F41}"/>
              </a:ext>
            </a:extLst>
          </p:cNvPr>
          <p:cNvSpPr/>
          <p:nvPr/>
        </p:nvSpPr>
        <p:spPr>
          <a:xfrm>
            <a:off x="762000" y="5816600"/>
            <a:ext cx="10668000" cy="4318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329899F-9DAD-437C-90F8-330E51F9B552}"/>
              </a:ext>
            </a:extLst>
          </p:cNvPr>
          <p:cNvSpPr txBox="1"/>
          <p:nvPr/>
        </p:nvSpPr>
        <p:spPr>
          <a:xfrm>
            <a:off x="1016000" y="59182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 dirty="0">
                <a:solidFill>
                  <a:srgbClr val="334155"/>
                </a:solidFill>
                <a:latin typeface="Segoe UI" panose="020B0502040204020203" pitchFamily="34" charset="0"/>
              </a:rPr>
              <a:t>Cada historia incluye sus criterios de aceptación y su </a:t>
            </a:r>
            <a:r>
              <a:rPr lang="es-MX" sz="1100" dirty="0" err="1">
                <a:solidFill>
                  <a:srgbClr val="334155"/>
                </a:solidFill>
                <a:latin typeface="Segoe UI" panose="020B0502040204020203" pitchFamily="34" charset="0"/>
              </a:rPr>
              <a:t>Definition</a:t>
            </a:r>
            <a:r>
              <a:rPr lang="es-MX" sz="1100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es-MX" sz="1100" dirty="0" err="1">
                <a:solidFill>
                  <a:srgbClr val="334155"/>
                </a:solidFill>
                <a:latin typeface="Segoe UI" panose="020B0502040204020203" pitchFamily="34" charset="0"/>
              </a:rPr>
              <a:t>of</a:t>
            </a:r>
            <a:r>
              <a:rPr lang="es-MX" sz="1100" dirty="0">
                <a:solidFill>
                  <a:srgbClr val="334155"/>
                </a:solidFill>
                <a:latin typeface="Segoe UI" panose="020B0502040204020203" pitchFamily="34" charset="0"/>
              </a:rPr>
              <a:t> Done.</a:t>
            </a:r>
            <a:endParaRPr lang="es-CL" sz="1100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A3D8A13-57E8-4506-98DB-9EFE144B1683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E5530D83-4784-4687-9118-79B13000C016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508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5A29D49-E68C-4206-9B31-9551A7754668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800" b="1">
                <a:solidFill>
                  <a:srgbClr val="0F172A"/>
                </a:solidFill>
                <a:latin typeface="Segoe UI" panose="020B0502040204020203" pitchFamily="34" charset="0"/>
              </a:rPr>
              <a:t>Definition of Done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727DB6E-C047-4164-AF54-2F6B212F7A72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E3427F-2460-496E-B553-4B0523C57FC9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 dirty="0">
                <a:solidFill>
                  <a:srgbClr val="64748B"/>
                </a:solidFill>
                <a:latin typeface="Segoe UI" panose="020B0502040204020203" pitchFamily="34" charset="0"/>
              </a:rPr>
              <a:t>Una historia se cierra solo si cumple criterios de negocio y técnicos.</a:t>
            </a:r>
            <a:endParaRPr lang="es-CL" sz="1250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E728364-C36D-4990-9716-0290B3F64698}"/>
              </a:ext>
            </a:extLst>
          </p:cNvPr>
          <p:cNvSpPr/>
          <p:nvPr/>
        </p:nvSpPr>
        <p:spPr>
          <a:xfrm>
            <a:off x="762000" y="1651000"/>
            <a:ext cx="5207000" cy="3759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2E31E4F-B83B-45DE-AB6F-87F28F311032}"/>
              </a:ext>
            </a:extLst>
          </p:cNvPr>
          <p:cNvSpPr/>
          <p:nvPr/>
        </p:nvSpPr>
        <p:spPr>
          <a:xfrm>
            <a:off x="762000" y="1651000"/>
            <a:ext cx="5207000" cy="63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FC4389-838F-476F-B59F-754CA45782CC}"/>
              </a:ext>
            </a:extLst>
          </p:cNvPr>
          <p:cNvSpPr txBox="1"/>
          <p:nvPr/>
        </p:nvSpPr>
        <p:spPr>
          <a:xfrm>
            <a:off x="1066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DoD de negocio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F848529-62A6-471C-B69F-87EB6230B668}"/>
              </a:ext>
            </a:extLst>
          </p:cNvPr>
          <p:cNvSpPr txBox="1"/>
          <p:nvPr/>
        </p:nvSpPr>
        <p:spPr>
          <a:xfrm>
            <a:off x="1066800" y="22606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 b="1">
                <a:solidFill>
                  <a:srgbClr val="4F46E5"/>
                </a:solidFill>
                <a:latin typeface="Segoe UI" panose="020B0502040204020203" pitchFamily="34" charset="0"/>
              </a:rPr>
              <a:t>Ejemplo HU-001: Configuración Plug &amp; Play</a:t>
            </a:r>
            <a:endParaRPr lang="es-CL" sz="1050" b="1">
              <a:solidFill>
                <a:srgbClr val="4F46E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EB2CA87-D40B-41BE-93C7-9EAA641F9DE6}"/>
              </a:ext>
            </a:extLst>
          </p:cNvPr>
          <p:cNvSpPr txBox="1"/>
          <p:nvPr/>
        </p:nvSpPr>
        <p:spPr>
          <a:xfrm>
            <a:off x="1066800" y="2616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La URL se ingresa en un único archivo .env, sin editar código.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El sistema informa con un mensaje amigable si la URL es inválida o el host no responde.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Confirma la disponibilidad del sitio (HTTP 200 OK) antes de escanear.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La instalación y la ejecución inicial se completan con un solo comando documentado.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B547B68-C838-4803-99DC-E619D2A8AAB9}"/>
              </a:ext>
            </a:extLst>
          </p:cNvPr>
          <p:cNvSpPr/>
          <p:nvPr/>
        </p:nvSpPr>
        <p:spPr>
          <a:xfrm>
            <a:off x="6223000" y="1651000"/>
            <a:ext cx="5207000" cy="3759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5A61DA1-2DE8-46C1-BE77-E7E7F6775D97}"/>
              </a:ext>
            </a:extLst>
          </p:cNvPr>
          <p:cNvSpPr/>
          <p:nvPr/>
        </p:nvSpPr>
        <p:spPr>
          <a:xfrm>
            <a:off x="6223000" y="1651000"/>
            <a:ext cx="5207000" cy="635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B3DC926-F6A6-473C-BF76-4CBA5BD7A0E8}"/>
              </a:ext>
            </a:extLst>
          </p:cNvPr>
          <p:cNvSpPr txBox="1"/>
          <p:nvPr/>
        </p:nvSpPr>
        <p:spPr>
          <a:xfrm>
            <a:off x="6527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DoD técnico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328C4B-B9B4-4255-9159-E8E4ABB166D6}"/>
              </a:ext>
            </a:extLst>
          </p:cNvPr>
          <p:cNvSpPr txBox="1"/>
          <p:nvPr/>
        </p:nvSpPr>
        <p:spPr>
          <a:xfrm>
            <a:off x="6527800" y="22606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 b="1">
                <a:solidFill>
                  <a:srgbClr val="4F46E5"/>
                </a:solidFill>
                <a:latin typeface="Segoe UI" panose="020B0502040204020203" pitchFamily="34" charset="0"/>
              </a:rPr>
              <a:t>Reglas transversales aplicadas al framework</a:t>
            </a:r>
            <a:endParaRPr lang="es-CL" sz="1050" b="1">
              <a:solidFill>
                <a:srgbClr val="4F46E5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F8FBA5F-E681-485F-9CD1-350E6920BC3B}"/>
              </a:ext>
            </a:extLst>
          </p:cNvPr>
          <p:cNvSpPr txBox="1"/>
          <p:nvPr/>
        </p:nvSpPr>
        <p:spPr>
          <a:xfrm>
            <a:off x="6527800" y="2616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Los selectores generados se validan contra el DOM con coincidencia única.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Las esperas usan auto-waiting / waitFor, nunca pausas fijas.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La generación de pruebas es reproducible a partir del JSON de escaneo.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Las credenciales se gestionan por variables de entorno y no se versionan.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El panel y el reporte exponen métricas desde una misma fuente de resultados.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D0D5FF3-760B-455F-B2FF-5F30C2B61344}"/>
              </a:ext>
            </a:extLst>
          </p:cNvPr>
          <p:cNvSpPr/>
          <p:nvPr/>
        </p:nvSpPr>
        <p:spPr>
          <a:xfrm>
            <a:off x="762000" y="5588000"/>
            <a:ext cx="10668000" cy="660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F630FB3-4A7A-4964-8C86-E30745C6437E}"/>
              </a:ext>
            </a:extLst>
          </p:cNvPr>
          <p:cNvSpPr txBox="1"/>
          <p:nvPr/>
        </p:nvSpPr>
        <p:spPr>
          <a:xfrm>
            <a:off x="1041400" y="57404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 b="1" dirty="0">
                <a:solidFill>
                  <a:srgbClr val="4F46E5"/>
                </a:solidFill>
                <a:latin typeface="Segoe UI" panose="020B0502040204020203" pitchFamily="34" charset="0"/>
              </a:rPr>
              <a:t>El </a:t>
            </a:r>
            <a:r>
              <a:rPr lang="es-MX" sz="1250" b="1" dirty="0" err="1">
                <a:solidFill>
                  <a:srgbClr val="4F46E5"/>
                </a:solidFill>
                <a:latin typeface="Segoe UI" panose="020B0502040204020203" pitchFamily="34" charset="0"/>
              </a:rPr>
              <a:t>DoD</a:t>
            </a:r>
            <a:r>
              <a:rPr lang="es-MX" sz="1250" b="1" dirty="0">
                <a:solidFill>
                  <a:srgbClr val="4F46E5"/>
                </a:solidFill>
                <a:latin typeface="Segoe UI" panose="020B0502040204020203" pitchFamily="34" charset="0"/>
              </a:rPr>
              <a:t> convierte cada historia en un resultado verificable y deja la evidencia asociada: prueba, reporte y registro.</a:t>
            </a:r>
            <a:endParaRPr lang="es-CL" sz="1250" b="1" dirty="0">
              <a:solidFill>
                <a:srgbClr val="4F46E5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C1527AC-7873-451D-A3B3-04EE65A19AB1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A8D7065-881E-40CF-BEF2-095DE1CA0EE7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281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FFADA0A-9781-4823-BA6F-8591BF16A88C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2800" b="1">
                <a:solidFill>
                  <a:srgbClr val="0F172A"/>
                </a:solidFill>
                <a:latin typeface="Segoe UI" panose="020B0502040204020203" pitchFamily="34" charset="0"/>
              </a:rPr>
              <a:t>Plan de trabajo y avance</a:t>
            </a:r>
            <a:endParaRPr lang="es-CL" sz="28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A0840D1-D45E-4703-AD6C-82DFFF3F39A6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35FEC4-06FC-4958-BBE8-2CB9D24B5D34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>
                <a:solidFill>
                  <a:srgbClr val="64748B"/>
                </a:solidFill>
                <a:latin typeface="Segoe UI" panose="020B0502040204020203" pitchFamily="34" charset="0"/>
              </a:rPr>
              <a:t>Plan de trabajo por semanas: compromisos cumplidos del Acta 08/10/2026 y actividades pendientes hasta el cierre (semana 14).</a:t>
            </a:r>
            <a:endParaRPr lang="es-CL" sz="12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A58DC8-B689-4147-A909-42A5B84F015E}"/>
              </a:ext>
            </a:extLst>
          </p:cNvPr>
          <p:cNvSpPr/>
          <p:nvPr/>
        </p:nvSpPr>
        <p:spPr>
          <a:xfrm>
            <a:off x="762000" y="1574800"/>
            <a:ext cx="10668000" cy="330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DFB30BF-F31B-4537-9674-B443B0D286E2}"/>
              </a:ext>
            </a:extLst>
          </p:cNvPr>
          <p:cNvSpPr txBox="1"/>
          <p:nvPr/>
        </p:nvSpPr>
        <p:spPr>
          <a:xfrm>
            <a:off x="965200" y="16510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100" b="1">
                <a:solidFill>
                  <a:srgbClr val="FFFFFF"/>
                </a:solidFill>
                <a:latin typeface="Segoe UI" panose="020B0502040204020203" pitchFamily="34" charset="0"/>
              </a:rPr>
              <a:t>Actividad del plan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4B613E-2E7A-4574-82EC-64F66547793E}"/>
              </a:ext>
            </a:extLst>
          </p:cNvPr>
          <p:cNvSpPr txBox="1"/>
          <p:nvPr/>
        </p:nvSpPr>
        <p:spPr>
          <a:xfrm>
            <a:off x="6223000" y="1651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FFFFFF"/>
                </a:solidFill>
                <a:latin typeface="Segoe UI" panose="020B0502040204020203" pitchFamily="34" charset="0"/>
              </a:rPr>
              <a:t>Semana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88EC45-3C75-4C72-ADDC-E89EF97A7494}"/>
              </a:ext>
            </a:extLst>
          </p:cNvPr>
          <p:cNvSpPr txBox="1"/>
          <p:nvPr/>
        </p:nvSpPr>
        <p:spPr>
          <a:xfrm>
            <a:off x="7874000" y="1651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FFFFFF"/>
                </a:solidFill>
                <a:latin typeface="Segoe UI" panose="020B0502040204020203" pitchFamily="34" charset="0"/>
              </a:rPr>
              <a:t>Evidencia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3999A47-16E4-4979-A4D7-A9D3AF437AD5}"/>
              </a:ext>
            </a:extLst>
          </p:cNvPr>
          <p:cNvSpPr txBox="1"/>
          <p:nvPr/>
        </p:nvSpPr>
        <p:spPr>
          <a:xfrm>
            <a:off x="10033000" y="16510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FFFFFF"/>
                </a:solidFill>
                <a:latin typeface="Segoe UI" panose="020B0502040204020203" pitchFamily="34" charset="0"/>
              </a:rPr>
              <a:t>Estado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862F1D7-CBF2-4411-9784-7E6A6A545599}"/>
              </a:ext>
            </a:extLst>
          </p:cNvPr>
          <p:cNvSpPr/>
          <p:nvPr/>
        </p:nvSpPr>
        <p:spPr>
          <a:xfrm>
            <a:off x="762000" y="1905000"/>
            <a:ext cx="10668000" cy="368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21F0D3-4BA5-4357-BC8C-BF96FD9F0805}"/>
              </a:ext>
            </a:extLst>
          </p:cNvPr>
          <p:cNvSpPr txBox="1"/>
          <p:nvPr/>
        </p:nvSpPr>
        <p:spPr>
          <a:xfrm>
            <a:off x="965200" y="20066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Configuración Inicial y Recepción de URL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8466573-AA73-4BF4-B7C5-10A6C38AA51A}"/>
              </a:ext>
            </a:extLst>
          </p:cNvPr>
          <p:cNvSpPr txBox="1"/>
          <p:nvPr/>
        </p:nvSpPr>
        <p:spPr>
          <a:xfrm>
            <a:off x="6223000" y="20066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842E643-8C68-42C8-8A4D-6FF1F0121B21}"/>
              </a:ext>
            </a:extLst>
          </p:cNvPr>
          <p:cNvSpPr txBox="1"/>
          <p:nvPr/>
        </p:nvSpPr>
        <p:spPr>
          <a:xfrm>
            <a:off x="7874000" y="2006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Video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3B9157-4B61-4FC8-A31A-5EBE7A879CAE}"/>
              </a:ext>
            </a:extLst>
          </p:cNvPr>
          <p:cNvSpPr txBox="1"/>
          <p:nvPr/>
        </p:nvSpPr>
        <p:spPr>
          <a:xfrm>
            <a:off x="10033000" y="20066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10B981"/>
                </a:solidFill>
                <a:latin typeface="Segoe UI" panose="020B0502040204020203" pitchFamily="34" charset="0"/>
              </a:rPr>
              <a:t>Cumplido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BC3CE1-1ACD-4773-99F0-7AE684AC4ADA}"/>
              </a:ext>
            </a:extLst>
          </p:cNvPr>
          <p:cNvSpPr/>
          <p:nvPr/>
        </p:nvSpPr>
        <p:spPr>
          <a:xfrm>
            <a:off x="762000" y="2273300"/>
            <a:ext cx="10668000" cy="3683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9AEB29F-ACC9-4B63-B5D7-06181D15A1BB}"/>
              </a:ext>
            </a:extLst>
          </p:cNvPr>
          <p:cNvSpPr txBox="1"/>
          <p:nvPr/>
        </p:nvSpPr>
        <p:spPr>
          <a:xfrm>
            <a:off x="965200" y="23749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Escaneo y Lectura Automática de la Página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88169A7-CAE0-4B59-9F58-7E552AC37604}"/>
              </a:ext>
            </a:extLst>
          </p:cNvPr>
          <p:cNvSpPr txBox="1"/>
          <p:nvPr/>
        </p:nvSpPr>
        <p:spPr>
          <a:xfrm>
            <a:off x="6223000" y="2374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6 y 7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38EC092-1EF0-43E2-A45D-F1B1B5DF279B}"/>
              </a:ext>
            </a:extLst>
          </p:cNvPr>
          <p:cNvSpPr txBox="1"/>
          <p:nvPr/>
        </p:nvSpPr>
        <p:spPr>
          <a:xfrm>
            <a:off x="7874000" y="2374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Video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405B42C-7311-4464-8D4A-7BB99CE149C1}"/>
              </a:ext>
            </a:extLst>
          </p:cNvPr>
          <p:cNvSpPr txBox="1"/>
          <p:nvPr/>
        </p:nvSpPr>
        <p:spPr>
          <a:xfrm>
            <a:off x="10033000" y="23749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10B981"/>
                </a:solidFill>
                <a:latin typeface="Segoe UI" panose="020B0502040204020203" pitchFamily="34" charset="0"/>
              </a:rPr>
              <a:t>Cumplido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3DDE819-1C11-4A6E-9DBB-A9F5E80978C3}"/>
              </a:ext>
            </a:extLst>
          </p:cNvPr>
          <p:cNvSpPr/>
          <p:nvPr/>
        </p:nvSpPr>
        <p:spPr>
          <a:xfrm>
            <a:off x="762000" y="2641600"/>
            <a:ext cx="10668000" cy="368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AB78339-5B79-4A0E-9C60-0F4F7C7ECFAA}"/>
              </a:ext>
            </a:extLst>
          </p:cNvPr>
          <p:cNvSpPr txBox="1"/>
          <p:nvPr/>
        </p:nvSpPr>
        <p:spPr>
          <a:xfrm>
            <a:off x="965200" y="27432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Pruebas Genéricas (escenarios en lenguaje natural)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DCE2DEE-CCD2-4047-9DC6-A6FF3E48223E}"/>
              </a:ext>
            </a:extLst>
          </p:cNvPr>
          <p:cNvSpPr txBox="1"/>
          <p:nvPr/>
        </p:nvSpPr>
        <p:spPr>
          <a:xfrm>
            <a:off x="6223000" y="27432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8, 9 y 10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EFD7872-15FB-4A48-8E8B-E1667339D333}"/>
              </a:ext>
            </a:extLst>
          </p:cNvPr>
          <p:cNvSpPr txBox="1"/>
          <p:nvPr/>
        </p:nvSpPr>
        <p:spPr>
          <a:xfrm>
            <a:off x="7874000" y="2743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 dirty="0">
                <a:solidFill>
                  <a:srgbClr val="4F46E5"/>
                </a:solidFill>
                <a:latin typeface="Segoe UI" panose="020B0502040204020203" pitchFamily="34" charset="0"/>
              </a:rPr>
              <a:t>Video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F02F5C3-2789-4031-9620-9B69D9099225}"/>
              </a:ext>
            </a:extLst>
          </p:cNvPr>
          <p:cNvSpPr txBox="1"/>
          <p:nvPr/>
        </p:nvSpPr>
        <p:spPr>
          <a:xfrm>
            <a:off x="10033000" y="27432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 dirty="0">
                <a:solidFill>
                  <a:srgbClr val="64748B"/>
                </a:solidFill>
                <a:latin typeface="Segoe UI" panose="020B0502040204020203" pitchFamily="34" charset="0"/>
              </a:rPr>
              <a:t>En curso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F4C8CD4-C78C-44E2-AB2E-9F5D485C337D}"/>
              </a:ext>
            </a:extLst>
          </p:cNvPr>
          <p:cNvSpPr/>
          <p:nvPr/>
        </p:nvSpPr>
        <p:spPr>
          <a:xfrm>
            <a:off x="762000" y="3009900"/>
            <a:ext cx="10668000" cy="3683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6079A0A-27CE-4AE0-8937-B2EDEECF535B}"/>
              </a:ext>
            </a:extLst>
          </p:cNvPr>
          <p:cNvSpPr txBox="1"/>
          <p:nvPr/>
        </p:nvSpPr>
        <p:spPr>
          <a:xfrm>
            <a:off x="965200" y="3111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Adaptabilidad Dinámica (esperas y parametrización)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CECE8CB-A55A-4F09-9314-9CA596275AD6}"/>
              </a:ext>
            </a:extLst>
          </p:cNvPr>
          <p:cNvSpPr txBox="1"/>
          <p:nvPr/>
        </p:nvSpPr>
        <p:spPr>
          <a:xfrm>
            <a:off x="6223000" y="3111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9 y 10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CD6075-C83D-4A52-ADE2-BC55EB0BCD56}"/>
              </a:ext>
            </a:extLst>
          </p:cNvPr>
          <p:cNvSpPr txBox="1"/>
          <p:nvPr/>
        </p:nvSpPr>
        <p:spPr>
          <a:xfrm>
            <a:off x="7874000" y="3111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4F46E5"/>
                </a:solidFill>
                <a:latin typeface="Segoe UI" panose="020B0502040204020203" pitchFamily="34" charset="0"/>
              </a:rPr>
              <a:t>Video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FCCC781-AFC4-4A1B-A66A-448B995A1045}"/>
              </a:ext>
            </a:extLst>
          </p:cNvPr>
          <p:cNvSpPr txBox="1"/>
          <p:nvPr/>
        </p:nvSpPr>
        <p:spPr>
          <a:xfrm>
            <a:off x="10033000" y="3111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 dirty="0">
                <a:solidFill>
                  <a:srgbClr val="64748B"/>
                </a:solidFill>
                <a:latin typeface="Segoe UI" panose="020B0502040204020203" pitchFamily="34" charset="0"/>
              </a:rPr>
              <a:t>En curso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DCE00B4-BA3E-4770-9F65-7E66E33FE540}"/>
              </a:ext>
            </a:extLst>
          </p:cNvPr>
          <p:cNvSpPr/>
          <p:nvPr/>
        </p:nvSpPr>
        <p:spPr>
          <a:xfrm>
            <a:off x="762000" y="3378200"/>
            <a:ext cx="10668000" cy="368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3068D16-19DB-4C92-B9F1-878AEC0FC6B5}"/>
              </a:ext>
            </a:extLst>
          </p:cNvPr>
          <p:cNvSpPr txBox="1"/>
          <p:nvPr/>
        </p:nvSpPr>
        <p:spPr>
          <a:xfrm>
            <a:off x="965200" y="3479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Panel web (dashboard) y sitio de ejemplo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5981425-2ED1-420C-BA6C-0FA6D900B630}"/>
              </a:ext>
            </a:extLst>
          </p:cNvPr>
          <p:cNvSpPr txBox="1"/>
          <p:nvPr/>
        </p:nvSpPr>
        <p:spPr>
          <a:xfrm>
            <a:off x="6223000" y="3479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10 y 11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A8D03E5-7C72-4454-9C6A-71286A92965F}"/>
              </a:ext>
            </a:extLst>
          </p:cNvPr>
          <p:cNvSpPr txBox="1"/>
          <p:nvPr/>
        </p:nvSpPr>
        <p:spPr>
          <a:xfrm>
            <a:off x="7874000" y="3479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dirty="0">
                <a:solidFill>
                  <a:srgbClr val="64748B"/>
                </a:solidFill>
                <a:latin typeface="Segoe UI" panose="020B0502040204020203" pitchFamily="34" charset="0"/>
              </a:rPr>
              <a:t>Por definir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BC68FFF-168A-4E57-870C-3FA6CA20384D}"/>
              </a:ext>
            </a:extLst>
          </p:cNvPr>
          <p:cNvSpPr txBox="1"/>
          <p:nvPr/>
        </p:nvSpPr>
        <p:spPr>
          <a:xfrm>
            <a:off x="10033000" y="3479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 dirty="0">
                <a:solidFill>
                  <a:srgbClr val="64748B"/>
                </a:solidFill>
                <a:latin typeface="Segoe UI" panose="020B0502040204020203" pitchFamily="34" charset="0"/>
              </a:rPr>
              <a:t>En curso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BA5B8EE-C4C7-4DC3-8BBE-90D90283065A}"/>
              </a:ext>
            </a:extLst>
          </p:cNvPr>
          <p:cNvSpPr/>
          <p:nvPr/>
        </p:nvSpPr>
        <p:spPr>
          <a:xfrm>
            <a:off x="762000" y="3746500"/>
            <a:ext cx="10668000" cy="3683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AE19F6F-0756-44B8-B53F-56ABC17B9800}"/>
              </a:ext>
            </a:extLst>
          </p:cNvPr>
          <p:cNvSpPr txBox="1"/>
          <p:nvPr/>
        </p:nvSpPr>
        <p:spPr>
          <a:xfrm>
            <a:off x="965200" y="3848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Ejecución automática de la batería de pruebas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8277C1A-8565-422C-A88F-3C3933997EC4}"/>
              </a:ext>
            </a:extLst>
          </p:cNvPr>
          <p:cNvSpPr txBox="1"/>
          <p:nvPr/>
        </p:nvSpPr>
        <p:spPr>
          <a:xfrm>
            <a:off x="6223000" y="38481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12 y 13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C343893-C11D-44FC-ABB2-1CA805C61AA0}"/>
              </a:ext>
            </a:extLst>
          </p:cNvPr>
          <p:cNvSpPr txBox="1"/>
          <p:nvPr/>
        </p:nvSpPr>
        <p:spPr>
          <a:xfrm>
            <a:off x="7874000" y="38481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Por definir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C3514B4-41EA-4492-BD9D-28D8FD09F8C6}"/>
              </a:ext>
            </a:extLst>
          </p:cNvPr>
          <p:cNvSpPr txBox="1"/>
          <p:nvPr/>
        </p:nvSpPr>
        <p:spPr>
          <a:xfrm>
            <a:off x="10033000" y="38481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 dirty="0">
                <a:solidFill>
                  <a:srgbClr val="64748B"/>
                </a:solidFill>
                <a:latin typeface="Segoe UI" panose="020B0502040204020203" pitchFamily="34" charset="0"/>
              </a:rPr>
              <a:t>En curso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4A01A8B-C9B7-4C0F-AED2-86BA55C99EC9}"/>
              </a:ext>
            </a:extLst>
          </p:cNvPr>
          <p:cNvSpPr/>
          <p:nvPr/>
        </p:nvSpPr>
        <p:spPr>
          <a:xfrm>
            <a:off x="762000" y="4114800"/>
            <a:ext cx="10668000" cy="3683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41E5CFC-DB9D-4E2F-998B-1379A0678F08}"/>
              </a:ext>
            </a:extLst>
          </p:cNvPr>
          <p:cNvSpPr txBox="1"/>
          <p:nvPr/>
        </p:nvSpPr>
        <p:spPr>
          <a:xfrm>
            <a:off x="965200" y="42164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100">
                <a:solidFill>
                  <a:srgbClr val="334155"/>
                </a:solidFill>
                <a:latin typeface="Segoe UI" panose="020B0502040204020203" pitchFamily="34" charset="0"/>
              </a:rPr>
              <a:t>Integración cross-browser con BrowserStack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EE2E89A-C39A-44B5-9A4D-32EF5E9F218C}"/>
              </a:ext>
            </a:extLst>
          </p:cNvPr>
          <p:cNvSpPr txBox="1"/>
          <p:nvPr/>
        </p:nvSpPr>
        <p:spPr>
          <a:xfrm>
            <a:off x="6223000" y="4216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13 y 14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F441C0F-23BE-49A7-AF42-A11616619348}"/>
              </a:ext>
            </a:extLst>
          </p:cNvPr>
          <p:cNvSpPr txBox="1"/>
          <p:nvPr/>
        </p:nvSpPr>
        <p:spPr>
          <a:xfrm>
            <a:off x="7874000" y="4216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Por definir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B5E2513-AC76-469A-A507-4C4E32153FD6}"/>
              </a:ext>
            </a:extLst>
          </p:cNvPr>
          <p:cNvSpPr txBox="1"/>
          <p:nvPr/>
        </p:nvSpPr>
        <p:spPr>
          <a:xfrm>
            <a:off x="10033000" y="4216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64748B"/>
                </a:solidFill>
                <a:latin typeface="Segoe UI" panose="020B0502040204020203" pitchFamily="34" charset="0"/>
              </a:rPr>
              <a:t>Pendiente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C8183AC-A845-491A-8A82-8CD62CBB14AB}"/>
              </a:ext>
            </a:extLst>
          </p:cNvPr>
          <p:cNvSpPr/>
          <p:nvPr/>
        </p:nvSpPr>
        <p:spPr>
          <a:xfrm>
            <a:off x="762000" y="4483100"/>
            <a:ext cx="10668000" cy="3683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E1F7E7C-4E5C-4EBF-A71E-3604401449D5}"/>
              </a:ext>
            </a:extLst>
          </p:cNvPr>
          <p:cNvSpPr txBox="1"/>
          <p:nvPr/>
        </p:nvSpPr>
        <p:spPr>
          <a:xfrm>
            <a:off x="965200" y="45847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Informe final y presentación del proyecto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EE4FFFB-797E-4935-A125-159AB745E766}"/>
              </a:ext>
            </a:extLst>
          </p:cNvPr>
          <p:cNvSpPr txBox="1"/>
          <p:nvPr/>
        </p:nvSpPr>
        <p:spPr>
          <a:xfrm>
            <a:off x="6223000" y="45847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14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FF05A81-0463-4F73-971C-D74B6B86D9EF}"/>
              </a:ext>
            </a:extLst>
          </p:cNvPr>
          <p:cNvSpPr txBox="1"/>
          <p:nvPr/>
        </p:nvSpPr>
        <p:spPr>
          <a:xfrm>
            <a:off x="7874000" y="45847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>
                <a:solidFill>
                  <a:srgbClr val="64748B"/>
                </a:solidFill>
                <a:latin typeface="Segoe UI" panose="020B0502040204020203" pitchFamily="34" charset="0"/>
              </a:rPr>
              <a:t>Por definir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CDE0C39-FA3D-4E2B-8E46-29F920ED3E38}"/>
              </a:ext>
            </a:extLst>
          </p:cNvPr>
          <p:cNvSpPr txBox="1"/>
          <p:nvPr/>
        </p:nvSpPr>
        <p:spPr>
          <a:xfrm>
            <a:off x="10033000" y="45847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CL" sz="1100" b="1">
                <a:solidFill>
                  <a:srgbClr val="64748B"/>
                </a:solidFill>
                <a:latin typeface="Segoe UI" panose="020B0502040204020203" pitchFamily="34" charset="0"/>
              </a:rPr>
              <a:t>Pendiente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A2A9DE30-07C3-4FB5-BD76-018878FCA5B6}"/>
              </a:ext>
            </a:extLst>
          </p:cNvPr>
          <p:cNvSpPr/>
          <p:nvPr/>
        </p:nvSpPr>
        <p:spPr>
          <a:xfrm>
            <a:off x="762000" y="5029200"/>
            <a:ext cx="10668000" cy="10668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6A63F7C-D34A-499C-B25D-DF720C5358C2}"/>
              </a:ext>
            </a:extLst>
          </p:cNvPr>
          <p:cNvSpPr txBox="1"/>
          <p:nvPr/>
        </p:nvSpPr>
        <p:spPr>
          <a:xfrm>
            <a:off x="1066800" y="518160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06B6D4"/>
                </a:solidFill>
                <a:latin typeface="Segoe UI" panose="020B0502040204020203" pitchFamily="34" charset="0"/>
              </a:rPr>
              <a:t>AVANCE DEL PLAN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1104C38B-4044-4961-8C04-9F325178DB1F}"/>
              </a:ext>
            </a:extLst>
          </p:cNvPr>
          <p:cNvSpPr txBox="1"/>
          <p:nvPr/>
        </p:nvSpPr>
        <p:spPr>
          <a:xfrm>
            <a:off x="1066800" y="546100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00" dirty="0">
                <a:solidFill>
                  <a:srgbClr val="FFFFFF"/>
                </a:solidFill>
                <a:latin typeface="Segoe UI" panose="020B0502040204020203" pitchFamily="34" charset="0"/>
              </a:rPr>
              <a:t>Cumplido: 2 de 2 compromisos del Acta 08/10/2026, con evidencia en video.</a:t>
            </a:r>
            <a:endParaRPr lang="es-CL" sz="12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E1AA2AA-0266-4845-A5D7-7D99D853982C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5FC1F4DB-1AA1-470E-B4A4-FC3B4C204274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6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29E071-E9AD-4D8D-94FA-5D9E3D68747B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800" b="1">
                <a:solidFill>
                  <a:srgbClr val="0F172A"/>
                </a:solidFill>
                <a:latin typeface="Segoe UI" panose="020B0502040204020203" pitchFamily="34" charset="0"/>
              </a:rPr>
              <a:t>Evidencias del proyecto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8CC298B-6F1C-4335-A296-886465BAB792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223F73-C75C-48DD-9561-69C0EE8CF215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>
                <a:solidFill>
                  <a:srgbClr val="64748B"/>
                </a:solidFill>
                <a:latin typeface="Segoe UI" panose="020B0502040204020203" pitchFamily="34" charset="0"/>
              </a:rPr>
              <a:t>La evidencia comprometida en el acta es el video demostrativo. La documentación respalda la metodología.</a:t>
            </a:r>
            <a:endParaRPr lang="es-CL" sz="12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3AEF260-BA15-422B-A4C6-8144BFB7612F}"/>
              </a:ext>
            </a:extLst>
          </p:cNvPr>
          <p:cNvSpPr/>
          <p:nvPr/>
        </p:nvSpPr>
        <p:spPr>
          <a:xfrm>
            <a:off x="762000" y="1651000"/>
            <a:ext cx="5207000" cy="254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0901900-DDC3-4D03-B875-93812ECF8481}"/>
              </a:ext>
            </a:extLst>
          </p:cNvPr>
          <p:cNvSpPr/>
          <p:nvPr/>
        </p:nvSpPr>
        <p:spPr>
          <a:xfrm>
            <a:off x="762000" y="1651000"/>
            <a:ext cx="5207000" cy="635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0EF606-DDB8-4C7F-8257-859E42568473}"/>
              </a:ext>
            </a:extLst>
          </p:cNvPr>
          <p:cNvSpPr txBox="1"/>
          <p:nvPr/>
        </p:nvSpPr>
        <p:spPr>
          <a:xfrm>
            <a:off x="1066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Documentación entregada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6DF2C9-2E80-4D5B-9738-6B7438715DD8}"/>
              </a:ext>
            </a:extLst>
          </p:cNvPr>
          <p:cNvSpPr txBox="1"/>
          <p:nvPr/>
        </p:nvSpPr>
        <p:spPr>
          <a:xfrm>
            <a:off x="1066800" y="2362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Product Vision — problema, usuarios y propuesta de valor.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Product Backlog — 8 historias con criterios de aceptación y peso.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Definition of Done — criterios de negocio y técnicos por historia.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Documento de Diseño — 5 diagramas UML del sistema.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45DAC60-DBFA-4C40-AEA5-297CB9C9D8FA}"/>
              </a:ext>
            </a:extLst>
          </p:cNvPr>
          <p:cNvSpPr/>
          <p:nvPr/>
        </p:nvSpPr>
        <p:spPr>
          <a:xfrm>
            <a:off x="6223000" y="1651000"/>
            <a:ext cx="5207000" cy="254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0D16515-9D6A-4B6F-8D69-88F97791DC09}"/>
              </a:ext>
            </a:extLst>
          </p:cNvPr>
          <p:cNvSpPr/>
          <p:nvPr/>
        </p:nvSpPr>
        <p:spPr>
          <a:xfrm>
            <a:off x="6223000" y="1651000"/>
            <a:ext cx="5207000" cy="635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AC6F2C7-AB35-4CEA-BDC8-18FE3A9CAD67}"/>
              </a:ext>
            </a:extLst>
          </p:cNvPr>
          <p:cNvSpPr txBox="1"/>
          <p:nvPr/>
        </p:nvSpPr>
        <p:spPr>
          <a:xfrm>
            <a:off x="6527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400" b="1">
                <a:solidFill>
                  <a:srgbClr val="1E293B"/>
                </a:solidFill>
                <a:latin typeface="Segoe UI" panose="020B0502040204020203" pitchFamily="34" charset="0"/>
              </a:rPr>
              <a:t>Evidencia comprometida (Acta 08/10/2026)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8C37ED-84F2-4923-B25C-2838968EF220}"/>
              </a:ext>
            </a:extLst>
          </p:cNvPr>
          <p:cNvSpPr txBox="1"/>
          <p:nvPr/>
        </p:nvSpPr>
        <p:spPr>
          <a:xfrm>
            <a:off x="6527800" y="2362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Video — Configuración Inicial y Recepción de URL (semana 5).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Video — Escaneo y Lectura Automática de la Página (semanas 6 y 7).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Repositorio GitHub y framework operativo como respaldo técnico.</a:t>
            </a:r>
          </a:p>
          <a:p>
            <a:pPr>
              <a:spcAft>
                <a:spcPts val="800"/>
              </a:spcAft>
            </a:pPr>
            <a:r>
              <a:rPr lang="es-MX" sz="1100">
                <a:solidFill>
                  <a:srgbClr val="334155"/>
                </a:solidFill>
                <a:latin typeface="Segoe UI" panose="020B0502040204020203" pitchFamily="34" charset="0"/>
              </a:rPr>
              <a:t>•  Panel web y reportes de respaldo.</a:t>
            </a:r>
            <a:endParaRPr lang="es-CL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9F10C87-68CF-4DDC-957B-77DA061B4B3B}"/>
              </a:ext>
            </a:extLst>
          </p:cNvPr>
          <p:cNvSpPr/>
          <p:nvPr/>
        </p:nvSpPr>
        <p:spPr>
          <a:xfrm>
            <a:off x="762000" y="4368800"/>
            <a:ext cx="10668000" cy="1168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3F8B37-A579-472B-BE3A-209727BE3E6D}"/>
              </a:ext>
            </a:extLst>
          </p:cNvPr>
          <p:cNvSpPr txBox="1"/>
          <p:nvPr/>
        </p:nvSpPr>
        <p:spPr>
          <a:xfrm>
            <a:off x="1066800" y="452120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050" b="1" dirty="0">
                <a:solidFill>
                  <a:srgbClr val="06B6D4"/>
                </a:solidFill>
                <a:latin typeface="Segoe UI" panose="020B0502040204020203" pitchFamily="34" charset="0"/>
              </a:rPr>
              <a:t>DEMOSTRACIÓN EN VIDEO</a:t>
            </a:r>
            <a:endParaRPr lang="es-CL" sz="1050" b="1" dirty="0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DDAD5C0-40D7-4F27-9FCF-87A1B920FC7B}"/>
              </a:ext>
            </a:extLst>
          </p:cNvPr>
          <p:cNvSpPr txBox="1"/>
          <p:nvPr/>
        </p:nvSpPr>
        <p:spPr>
          <a:xfrm>
            <a:off x="1066800" y="480060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Ingreso de la URL  →  escaneo del sitio  →  generación de las pruebas  →  ejecución en el navegador  →  diagnóstico y reportes. El enlace está en el archivo Drive-Videos de la carpeta de evidencias.</a:t>
            </a:r>
            <a:endParaRPr lang="es-CL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D98A95-9B91-4D62-BA48-6C43CBE8419F}"/>
              </a:ext>
            </a:extLst>
          </p:cNvPr>
          <p:cNvSpPr txBox="1"/>
          <p:nvPr/>
        </p:nvSpPr>
        <p:spPr>
          <a:xfrm>
            <a:off x="762000" y="5740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50" b="1">
                <a:solidFill>
                  <a:srgbClr val="4F46E5"/>
                </a:solidFill>
                <a:latin typeface="Segoe UI" panose="020B0502040204020203" pitchFamily="34" charset="0"/>
              </a:rPr>
              <a:t>Compromiso y evidencia: Acta de Control de Avance (08/10/2026) con la actividad, la semana y el video de respaldo.</a:t>
            </a:r>
            <a:endParaRPr lang="es-CL" sz="1150" b="1">
              <a:solidFill>
                <a:srgbClr val="4F46E5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89D47E3-F5F3-4D82-A20A-7AFE5F2611CC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C1D5B94-47A2-41BA-86E7-5B227804BAA9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153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8730BB7-1801-4BC8-9793-4371F77A851F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2800" b="1">
                <a:solidFill>
                  <a:srgbClr val="0F172A"/>
                </a:solidFill>
                <a:latin typeface="Segoe UI" panose="020B0502040204020203" pitchFamily="34" charset="0"/>
              </a:rPr>
              <a:t>Vínculo con el perfil de egreso</a:t>
            </a:r>
            <a:endParaRPr lang="es-CL" sz="28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4CD9B2B-C0F4-4D84-9014-73E6181BB2BE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5D5376-73BD-4830-AE24-2121C56F8E28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>
                <a:solidFill>
                  <a:srgbClr val="64748B"/>
                </a:solidFill>
                <a:latin typeface="Segoe UI" panose="020B0502040204020203" pitchFamily="34" charset="0"/>
              </a:rPr>
              <a:t>Competencias del perfil de egreso evaluadas en esta instancia y su evidencia en el proyecto.</a:t>
            </a:r>
            <a:endParaRPr lang="es-CL" sz="12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EF7D1FE-92BB-4003-8424-8AE0E3E03296}"/>
              </a:ext>
            </a:extLst>
          </p:cNvPr>
          <p:cNvSpPr/>
          <p:nvPr/>
        </p:nvSpPr>
        <p:spPr>
          <a:xfrm>
            <a:off x="762000" y="5740400"/>
            <a:ext cx="10668000" cy="508000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EE8C9BA-70AB-4147-9816-13E18365BD94}"/>
              </a:ext>
            </a:extLst>
          </p:cNvPr>
          <p:cNvSpPr txBox="1"/>
          <p:nvPr/>
        </p:nvSpPr>
        <p:spPr>
          <a:xfrm>
            <a:off x="1041400" y="5854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150" b="1">
                <a:solidFill>
                  <a:srgbClr val="4F46E5"/>
                </a:solidFill>
                <a:latin typeface="Segoe UI" panose="020B0502040204020203" pitchFamily="34" charset="0"/>
              </a:rPr>
              <a:t>El proyecto aborda las cuatro competencias del perfil de egreso evaluadas en esta instancia.</a:t>
            </a:r>
            <a:endParaRPr lang="es-CL" sz="1150" b="1">
              <a:solidFill>
                <a:srgbClr val="4F46E5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FD725A4-B55D-414D-8F74-D5492BA2B161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A3A2EED-7C1A-45F3-8685-B61F583BB8A8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2ADF6BC-9BA1-4674-85A0-C454A4402FA0}"/>
              </a:ext>
            </a:extLst>
          </p:cNvPr>
          <p:cNvSpPr/>
          <p:nvPr/>
        </p:nvSpPr>
        <p:spPr>
          <a:xfrm>
            <a:off x="762000" y="1574800"/>
            <a:ext cx="10668000" cy="965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9AF0A8-788D-4EFB-A1F4-512C1F5413DA}"/>
              </a:ext>
            </a:extLst>
          </p:cNvPr>
          <p:cNvSpPr/>
          <p:nvPr/>
        </p:nvSpPr>
        <p:spPr>
          <a:xfrm>
            <a:off x="762000" y="1574800"/>
            <a:ext cx="63500" cy="9652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D2E113-1457-418A-B1E8-191097816838}"/>
              </a:ext>
            </a:extLst>
          </p:cNvPr>
          <p:cNvSpPr txBox="1"/>
          <p:nvPr/>
        </p:nvSpPr>
        <p:spPr>
          <a:xfrm>
            <a:off x="1041400" y="16383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 b="1">
                <a:solidFill>
                  <a:srgbClr val="1E293B"/>
                </a:solidFill>
                <a:latin typeface="Segoe UI" panose="020B0502040204020203" pitchFamily="34" charset="0"/>
              </a:rPr>
              <a:t>Realizar pruebas de certificación de los productos y de los procesos</a:t>
            </a:r>
            <a:endParaRPr lang="es-CL" sz="1200" b="1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40067CC-0AB1-425E-963E-7CEEE091DAD8}"/>
              </a:ext>
            </a:extLst>
          </p:cNvPr>
          <p:cNvSpPr txBox="1"/>
          <p:nvPr/>
        </p:nvSpPr>
        <p:spPr>
          <a:xfrm>
            <a:off x="1041400" y="18796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CL" sz="950" b="1">
                <a:solidFill>
                  <a:srgbClr val="4F46E5"/>
                </a:solidFill>
                <a:latin typeface="Segoe UI" panose="020B0502040204020203" pitchFamily="34" charset="0"/>
              </a:rPr>
              <a:t>Diseña · Aplica · Desarrolla mejoras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3B4067-6542-42EB-865F-37B6FABBEC01}"/>
              </a:ext>
            </a:extLst>
          </p:cNvPr>
          <p:cNvSpPr txBox="1"/>
          <p:nvPr/>
        </p:nvSpPr>
        <p:spPr>
          <a:xfrm>
            <a:off x="1041400" y="20828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50">
                <a:solidFill>
                  <a:srgbClr val="64748B"/>
                </a:solidFill>
                <a:latin typeface="Segoe UI" panose="020B0502040204020203" pitchFamily="34" charset="0"/>
              </a:rPr>
              <a:t>HU-001 a HU-008 con criterios de aceptación y Definition of Done; 58 escenarios generados en lenguaje natural sobre el sitio demo; 6 ejecuciones registradas (11, 13 y 16 de octubre) con 58 pruebas y 0 fallidas; de los resultados surgieron los modos de escaneo y las esperas dinámicas.</a:t>
            </a:r>
            <a:endParaRPr lang="es-CL" sz="9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531888F-15D4-45C5-A74D-8F16590C6398}"/>
              </a:ext>
            </a:extLst>
          </p:cNvPr>
          <p:cNvSpPr/>
          <p:nvPr/>
        </p:nvSpPr>
        <p:spPr>
          <a:xfrm>
            <a:off x="762000" y="2616200"/>
            <a:ext cx="10668000" cy="965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C4A9C6-2F06-4CAE-B9F7-E4A3B4590227}"/>
              </a:ext>
            </a:extLst>
          </p:cNvPr>
          <p:cNvSpPr/>
          <p:nvPr/>
        </p:nvSpPr>
        <p:spPr>
          <a:xfrm>
            <a:off x="762000" y="2616200"/>
            <a:ext cx="63500" cy="9652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2AA2321-51E6-4ED9-B6E0-55B9BC16E5A6}"/>
              </a:ext>
            </a:extLst>
          </p:cNvPr>
          <p:cNvSpPr txBox="1"/>
          <p:nvPr/>
        </p:nvSpPr>
        <p:spPr>
          <a:xfrm>
            <a:off x="1041400" y="26797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 b="1">
                <a:solidFill>
                  <a:srgbClr val="1E293B"/>
                </a:solidFill>
                <a:latin typeface="Segoe UI" panose="020B0502040204020203" pitchFamily="34" charset="0"/>
              </a:rPr>
              <a:t>Gestionar proyectos informáticos, ofreciendo alternativas para la toma de decisiones</a:t>
            </a:r>
            <a:endParaRPr lang="es-CL" sz="1200" b="1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751EF30-B342-41BD-BA1C-D7E1099466AC}"/>
              </a:ext>
            </a:extLst>
          </p:cNvPr>
          <p:cNvSpPr txBox="1"/>
          <p:nvPr/>
        </p:nvSpPr>
        <p:spPr>
          <a:xfrm>
            <a:off x="1041400" y="29210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CL" sz="950" b="1">
                <a:solidFill>
                  <a:srgbClr val="06B6D4"/>
                </a:solidFill>
                <a:latin typeface="Segoe UI" panose="020B0502040204020203" pitchFamily="34" charset="0"/>
              </a:rPr>
              <a:t>Planifica · Controla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ED59F67-469B-44FB-8B8A-EBC2A7D571E6}"/>
              </a:ext>
            </a:extLst>
          </p:cNvPr>
          <p:cNvSpPr txBox="1"/>
          <p:nvPr/>
        </p:nvSpPr>
        <p:spPr>
          <a:xfrm>
            <a:off x="1041400" y="31242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50">
                <a:solidFill>
                  <a:srgbClr val="64748B"/>
                </a:solidFill>
                <a:latin typeface="Segoe UI" panose="020B0502040204020203" pitchFamily="34" charset="0"/>
              </a:rPr>
              <a:t>Plan de 14 semanas por competencia, actividad y responsable; backlog priorizado con Poker Planning (7 épicas, 8 historias, 4 sprints); monitoreo con estados y ajustes; re-planificación por subestimación del alcance y postergación de BrowserStack.</a:t>
            </a:r>
            <a:endParaRPr lang="es-CL" sz="9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221AACB-068B-43C2-B982-188B70EDDD39}"/>
              </a:ext>
            </a:extLst>
          </p:cNvPr>
          <p:cNvSpPr/>
          <p:nvPr/>
        </p:nvSpPr>
        <p:spPr>
          <a:xfrm>
            <a:off x="762000" y="3657600"/>
            <a:ext cx="10668000" cy="965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BAEC7B5-43DC-47EC-A54C-E7C8D5D559DF}"/>
              </a:ext>
            </a:extLst>
          </p:cNvPr>
          <p:cNvSpPr/>
          <p:nvPr/>
        </p:nvSpPr>
        <p:spPr>
          <a:xfrm>
            <a:off x="762000" y="3657600"/>
            <a:ext cx="63500" cy="9652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4EE5088-6060-4886-AD65-EBD65B6E8AA4}"/>
              </a:ext>
            </a:extLst>
          </p:cNvPr>
          <p:cNvSpPr txBox="1"/>
          <p:nvPr/>
        </p:nvSpPr>
        <p:spPr>
          <a:xfrm>
            <a:off x="1041400" y="37211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 b="1">
                <a:solidFill>
                  <a:srgbClr val="1E293B"/>
                </a:solidFill>
                <a:latin typeface="Segoe UI" panose="020B0502040204020203" pitchFamily="34" charset="0"/>
              </a:rPr>
              <a:t>Construir modelos de datos según un diseño definido y escalable</a:t>
            </a:r>
            <a:endParaRPr lang="es-CL" sz="1200" b="1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DEC603F-60BA-4B36-937F-2B7C8FF3DEA0}"/>
              </a:ext>
            </a:extLst>
          </p:cNvPr>
          <p:cNvSpPr txBox="1"/>
          <p:nvPr/>
        </p:nvSpPr>
        <p:spPr>
          <a:xfrm>
            <a:off x="1041400" y="39624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CL" sz="950" b="1">
                <a:solidFill>
                  <a:srgbClr val="10B981"/>
                </a:solidFill>
                <a:latin typeface="Segoe UI" panose="020B0502040204020203" pitchFamily="34" charset="0"/>
              </a:rPr>
              <a:t>Diseña · Implementa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D8A3076-E591-46B5-BA23-61F81AB06B99}"/>
              </a:ext>
            </a:extLst>
          </p:cNvPr>
          <p:cNvSpPr txBox="1"/>
          <p:nvPr/>
        </p:nvSpPr>
        <p:spPr>
          <a:xfrm>
            <a:off x="1041400" y="41656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50">
                <a:solidFill>
                  <a:srgbClr val="64748B"/>
                </a:solidFill>
                <a:latin typeface="Segoe UI" panose="020B0502040204020203" pitchFamily="34" charset="0"/>
              </a:rPr>
              <a:t>Modelo E-R de seis entidades (escaneo, página, elemento, prueba, resultado, reporte); cada escaneo se persiste en JSON y cada ejecución deja su resultado en el reportero JSON, datos que el panel web consulta; la migración a un gestor de bases de datos es la escalabilidad prevista.</a:t>
            </a:r>
            <a:endParaRPr lang="es-CL" sz="9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DCDDA6B-6F43-417C-BFAF-DFE7B1C95B97}"/>
              </a:ext>
            </a:extLst>
          </p:cNvPr>
          <p:cNvSpPr/>
          <p:nvPr/>
        </p:nvSpPr>
        <p:spPr>
          <a:xfrm>
            <a:off x="762000" y="4699000"/>
            <a:ext cx="10668000" cy="965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5D873B6-8DD4-49EE-9DAA-70D6B30C0A73}"/>
              </a:ext>
            </a:extLst>
          </p:cNvPr>
          <p:cNvSpPr/>
          <p:nvPr/>
        </p:nvSpPr>
        <p:spPr>
          <a:xfrm>
            <a:off x="762000" y="4699000"/>
            <a:ext cx="63500" cy="965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C855C42-9301-4F92-B414-1B241BA31F2C}"/>
              </a:ext>
            </a:extLst>
          </p:cNvPr>
          <p:cNvSpPr txBox="1"/>
          <p:nvPr/>
        </p:nvSpPr>
        <p:spPr>
          <a:xfrm>
            <a:off x="1041400" y="47625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 b="1">
                <a:solidFill>
                  <a:srgbClr val="1E293B"/>
                </a:solidFill>
                <a:latin typeface="Segoe UI" panose="020B0502040204020203" pitchFamily="34" charset="0"/>
              </a:rPr>
              <a:t>Desarrollar una solución de software sistematizando el desarrollo y el mantenimiento</a:t>
            </a:r>
            <a:endParaRPr lang="es-CL" sz="1200" b="1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2E9F02C-4668-4A4C-AE56-C20E5089FA54}"/>
              </a:ext>
            </a:extLst>
          </p:cNvPr>
          <p:cNvSpPr txBox="1"/>
          <p:nvPr/>
        </p:nvSpPr>
        <p:spPr>
          <a:xfrm>
            <a:off x="1041400" y="50038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CL" sz="950" b="1">
                <a:solidFill>
                  <a:srgbClr val="F59E0B"/>
                </a:solidFill>
                <a:latin typeface="Segoe UI" panose="020B0502040204020203" pitchFamily="34" charset="0"/>
              </a:rPr>
              <a:t>Construye · Integra · Implanta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D84E80-B084-4228-A38D-53CB7BF5BDE0}"/>
              </a:ext>
            </a:extLst>
          </p:cNvPr>
          <p:cNvSpPr txBox="1"/>
          <p:nvPr/>
        </p:nvSpPr>
        <p:spPr>
          <a:xfrm>
            <a:off x="1041400" y="5207000"/>
            <a:ext cx="1023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50">
                <a:solidFill>
                  <a:srgbClr val="64748B"/>
                </a:solidFill>
                <a:latin typeface="Segoe UI" panose="020B0502040204020203" pitchFamily="34" charset="0"/>
              </a:rPr>
              <a:t>Framework en TypeScript y Node.js (CLI, escáner, generador, crawler); integra Playwright, panel web, reportes y sitio demo en un flujo desde el archivo .env; implantación operativa en local, con la ejecución en la nube planificada para las semanas 13 y 14.</a:t>
            </a:r>
            <a:endParaRPr lang="es-CL" sz="9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327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C194E00-A4EE-4F51-99A9-2758FA487499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800" b="1" dirty="0">
                <a:solidFill>
                  <a:srgbClr val="0F172A"/>
                </a:solidFill>
                <a:latin typeface="Segoe UI" panose="020B0502040204020203" pitchFamily="34" charset="0"/>
              </a:rPr>
              <a:t>Desarrollo profesional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BB313FD-8824-4128-BC1B-2F2E5B6C1C98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A4619FE-EC86-49E6-B5CE-C7ED96B87AB9}"/>
              </a:ext>
            </a:extLst>
          </p:cNvPr>
          <p:cNvSpPr/>
          <p:nvPr/>
        </p:nvSpPr>
        <p:spPr>
          <a:xfrm>
            <a:off x="762000" y="1651000"/>
            <a:ext cx="5207000" cy="381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A9D49DF-0B71-4E0F-A581-BC533BEB1E96}"/>
              </a:ext>
            </a:extLst>
          </p:cNvPr>
          <p:cNvSpPr/>
          <p:nvPr/>
        </p:nvSpPr>
        <p:spPr>
          <a:xfrm>
            <a:off x="762000" y="1651000"/>
            <a:ext cx="5207000" cy="635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D93FE5-1F5A-4BCF-A935-8E7F1A224410}"/>
              </a:ext>
            </a:extLst>
          </p:cNvPr>
          <p:cNvSpPr txBox="1"/>
          <p:nvPr/>
        </p:nvSpPr>
        <p:spPr>
          <a:xfrm>
            <a:off x="1066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500" b="1">
                <a:solidFill>
                  <a:srgbClr val="1E293B"/>
                </a:solidFill>
                <a:latin typeface="Segoe UI" panose="020B0502040204020203" pitchFamily="34" charset="0"/>
              </a:rPr>
              <a:t>Alex Mauricio Puebla Allendes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5F7019-73CC-42EC-8B15-141125958F98}"/>
              </a:ext>
            </a:extLst>
          </p:cNvPr>
          <p:cNvSpPr txBox="1"/>
          <p:nvPr/>
        </p:nvSpPr>
        <p:spPr>
          <a:xfrm>
            <a:off x="1066800" y="2235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050" b="1">
                <a:solidFill>
                  <a:srgbClr val="4F46E5"/>
                </a:solidFill>
                <a:latin typeface="Segoe UI" panose="020B0502040204020203" pitchFamily="34" charset="0"/>
              </a:rPr>
              <a:t>QA Analyst &amp; Test Strategy Lead</a:t>
            </a:r>
            <a:endParaRPr lang="es-CL" sz="1050" b="1">
              <a:solidFill>
                <a:srgbClr val="4F46E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3E6C89C-CB55-4618-9D70-1E67FDD25EEE}"/>
              </a:ext>
            </a:extLst>
          </p:cNvPr>
          <p:cNvSpPr txBox="1"/>
          <p:nvPr/>
        </p:nvSpPr>
        <p:spPr>
          <a:xfrm>
            <a:off x="1066800" y="2616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50" dirty="0">
                <a:solidFill>
                  <a:srgbClr val="334155"/>
                </a:solidFill>
                <a:latin typeface="Segoe UI" panose="020B0502040204020203" pitchFamily="34" charset="0"/>
              </a:rPr>
              <a:t>•  El proyecto confirmó mi interés en unir el aseguramiento de calidad con la ciberseguridad.</a:t>
            </a:r>
          </a:p>
          <a:p>
            <a:pPr>
              <a:spcAft>
                <a:spcPts val="800"/>
              </a:spcAft>
            </a:pPr>
            <a:r>
              <a:rPr lang="es-MX" sz="1150" dirty="0">
                <a:solidFill>
                  <a:srgbClr val="334155"/>
                </a:solidFill>
                <a:latin typeface="Segoe UI" panose="020B0502040204020203" pitchFamily="34" charset="0"/>
              </a:rPr>
              <a:t>•  Desarrolló una visión analítica para detectar fallos funcionales y debilidades estructurales del Front-</a:t>
            </a:r>
            <a:r>
              <a:rPr lang="es-MX" sz="1150" dirty="0" err="1">
                <a:solidFill>
                  <a:srgbClr val="334155"/>
                </a:solidFill>
                <a:latin typeface="Segoe UI" panose="020B0502040204020203" pitchFamily="34" charset="0"/>
              </a:rPr>
              <a:t>End</a:t>
            </a:r>
            <a:r>
              <a:rPr lang="es-MX" sz="1150" dirty="0">
                <a:solidFill>
                  <a:srgbClr val="334155"/>
                </a:solidFill>
                <a:latin typeface="Segoe UI" panose="020B0502040204020203" pitchFamily="34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s-MX" sz="1150" dirty="0">
                <a:solidFill>
                  <a:srgbClr val="334155"/>
                </a:solidFill>
                <a:latin typeface="Segoe UI" panose="020B0502040204020203" pitchFamily="34" charset="0"/>
              </a:rPr>
              <a:t>•  Proyección: QA </a:t>
            </a:r>
            <a:r>
              <a:rPr lang="es-MX" sz="1150" dirty="0" err="1">
                <a:solidFill>
                  <a:srgbClr val="334155"/>
                </a:solidFill>
                <a:latin typeface="Segoe UI" panose="020B0502040204020203" pitchFamily="34" charset="0"/>
              </a:rPr>
              <a:t>Automation</a:t>
            </a:r>
            <a:r>
              <a:rPr lang="es-MX" sz="1150" dirty="0">
                <a:solidFill>
                  <a:srgbClr val="334155"/>
                </a:solidFill>
                <a:latin typeface="Segoe UI" panose="020B0502040204020203" pitchFamily="34" charset="0"/>
              </a:rPr>
              <a:t>, integración continua, pruebas en la nube y seguridad de aplicaciones.</a:t>
            </a:r>
            <a:endParaRPr lang="es-CL" sz="1150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53DE928-B04C-4CDD-9CFC-31AA89B62ED1}"/>
              </a:ext>
            </a:extLst>
          </p:cNvPr>
          <p:cNvSpPr/>
          <p:nvPr/>
        </p:nvSpPr>
        <p:spPr>
          <a:xfrm>
            <a:off x="6223000" y="1651000"/>
            <a:ext cx="5207000" cy="381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67D8791-A12C-439B-A6AF-D98597E12BE4}"/>
              </a:ext>
            </a:extLst>
          </p:cNvPr>
          <p:cNvSpPr/>
          <p:nvPr/>
        </p:nvSpPr>
        <p:spPr>
          <a:xfrm>
            <a:off x="6223000" y="1651000"/>
            <a:ext cx="5207000" cy="635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FDD7CC-F527-4EDC-91BF-47FB286002AB}"/>
              </a:ext>
            </a:extLst>
          </p:cNvPr>
          <p:cNvSpPr txBox="1"/>
          <p:nvPr/>
        </p:nvSpPr>
        <p:spPr>
          <a:xfrm>
            <a:off x="6527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500" b="1">
                <a:solidFill>
                  <a:srgbClr val="1E293B"/>
                </a:solidFill>
                <a:latin typeface="Segoe UI" panose="020B0502040204020203" pitchFamily="34" charset="0"/>
              </a:rPr>
              <a:t>José Ignacio Valdivia Mendoza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4BA448B-528C-44D3-A131-E95E3564D377}"/>
              </a:ext>
            </a:extLst>
          </p:cNvPr>
          <p:cNvSpPr txBox="1"/>
          <p:nvPr/>
        </p:nvSpPr>
        <p:spPr>
          <a:xfrm>
            <a:off x="6527800" y="2235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050" b="1">
                <a:solidFill>
                  <a:srgbClr val="4F46E5"/>
                </a:solidFill>
                <a:latin typeface="Segoe UI" panose="020B0502040204020203" pitchFamily="34" charset="0"/>
              </a:rPr>
              <a:t>QA Automation Engineer &amp; Cloud Infrastructure Lead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3FE97E-FBC3-4283-9118-AC5D69922FDC}"/>
              </a:ext>
            </a:extLst>
          </p:cNvPr>
          <p:cNvSpPr txBox="1"/>
          <p:nvPr/>
        </p:nvSpPr>
        <p:spPr>
          <a:xfrm>
            <a:off x="6527800" y="2616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Busca consolidar su formación como Ingeniero en QA Automation.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Aportó su experiencia previa en aseguramiento de calidad y asumió las esperas dinámicas y la integración con la nube.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Proyección: frameworks escalables, ejecución en la nube y soluciones de software confiables.</a:t>
            </a:r>
            <a:endParaRPr lang="es-CL" sz="11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486025F-32C2-463F-A679-846988E874CF}"/>
              </a:ext>
            </a:extLst>
          </p:cNvPr>
          <p:cNvSpPr/>
          <p:nvPr/>
        </p:nvSpPr>
        <p:spPr>
          <a:xfrm>
            <a:off x="762000" y="5664200"/>
            <a:ext cx="10668000" cy="584200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E48D193-EDE6-4332-9EFF-80F607C04B67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D29EB81-28E3-4309-8DFE-AAE104AFDBB6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330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725A060-F857-4892-BA3F-456C7AF3B31C}"/>
              </a:ext>
            </a:extLst>
          </p:cNvPr>
          <p:cNvSpPr txBox="1"/>
          <p:nvPr/>
        </p:nvSpPr>
        <p:spPr>
          <a:xfrm>
            <a:off x="762000" y="4826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800" b="1">
                <a:solidFill>
                  <a:srgbClr val="0F172A"/>
                </a:solidFill>
                <a:latin typeface="Segoe UI" panose="020B0502040204020203" pitchFamily="34" charset="0"/>
              </a:rPr>
              <a:t>Innovación y conclusiones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487F6AC-F22C-4151-891D-87348DB24C34}"/>
              </a:ext>
            </a:extLst>
          </p:cNvPr>
          <p:cNvSpPr/>
          <p:nvPr/>
        </p:nvSpPr>
        <p:spPr>
          <a:xfrm>
            <a:off x="762000" y="1041400"/>
            <a:ext cx="711200" cy="63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34FB9E-EA10-43C2-9909-15DF116BDE53}"/>
              </a:ext>
            </a:extLst>
          </p:cNvPr>
          <p:cNvSpPr txBox="1"/>
          <p:nvPr/>
        </p:nvSpPr>
        <p:spPr>
          <a:xfrm>
            <a:off x="762000" y="1219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1250">
                <a:solidFill>
                  <a:srgbClr val="64748B"/>
                </a:solidFill>
                <a:latin typeface="Segoe UI" panose="020B0502040204020203" pitchFamily="34" charset="0"/>
              </a:rPr>
              <a:t>Qué aporta CACHAI-QA, qué aprendimos y en qué estado queda el proyecto.</a:t>
            </a:r>
            <a:endParaRPr lang="es-CL" sz="125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EFFC7F6-3C9E-40E0-B21A-8DCA51197F9E}"/>
              </a:ext>
            </a:extLst>
          </p:cNvPr>
          <p:cNvSpPr/>
          <p:nvPr/>
        </p:nvSpPr>
        <p:spPr>
          <a:xfrm>
            <a:off x="762000" y="1651000"/>
            <a:ext cx="5207000" cy="309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4EAE3B0-FF42-4668-9A3D-68690C48AC34}"/>
              </a:ext>
            </a:extLst>
          </p:cNvPr>
          <p:cNvSpPr/>
          <p:nvPr/>
        </p:nvSpPr>
        <p:spPr>
          <a:xfrm>
            <a:off x="762000" y="1651000"/>
            <a:ext cx="5207000" cy="635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90E779-A37C-437A-9823-81F900F2E55E}"/>
              </a:ext>
            </a:extLst>
          </p:cNvPr>
          <p:cNvSpPr txBox="1"/>
          <p:nvPr/>
        </p:nvSpPr>
        <p:spPr>
          <a:xfrm>
            <a:off x="1066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Innovación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572844F-3356-442C-B718-B1027F8888F5}"/>
              </a:ext>
            </a:extLst>
          </p:cNvPr>
          <p:cNvSpPr txBox="1"/>
          <p:nvPr/>
        </p:nvSpPr>
        <p:spPr>
          <a:xfrm>
            <a:off x="1066800" y="2362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¿Qué problema resuelve? Validar la salud de un sitio web sin conocimientos de programación.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¿Qué hace diferente? Un solo flujo Plug &amp; Play: escanear, generar y ejecutar desde una URL.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¿Qué valor agrega? Menos tiempo y costo de prueba, mayor cobertura y confianza en cada entrega.</a:t>
            </a:r>
            <a:endParaRPr lang="es-CL" sz="11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4F048AE-C6A8-42E5-AAF6-395B4CB2603D}"/>
              </a:ext>
            </a:extLst>
          </p:cNvPr>
          <p:cNvSpPr/>
          <p:nvPr/>
        </p:nvSpPr>
        <p:spPr>
          <a:xfrm>
            <a:off x="6223000" y="1651000"/>
            <a:ext cx="5207000" cy="309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B3E4F16-69E6-4006-8BD8-30009823243C}"/>
              </a:ext>
            </a:extLst>
          </p:cNvPr>
          <p:cNvSpPr/>
          <p:nvPr/>
        </p:nvSpPr>
        <p:spPr>
          <a:xfrm>
            <a:off x="6223000" y="1651000"/>
            <a:ext cx="5207000" cy="635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E2EE03-F3B7-41A2-A6CA-D5D585423602}"/>
              </a:ext>
            </a:extLst>
          </p:cNvPr>
          <p:cNvSpPr txBox="1"/>
          <p:nvPr/>
        </p:nvSpPr>
        <p:spPr>
          <a:xfrm>
            <a:off x="6527800" y="19050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600" b="1">
                <a:solidFill>
                  <a:srgbClr val="1E293B"/>
                </a:solidFill>
                <a:latin typeface="Segoe UI" panose="020B0502040204020203" pitchFamily="34" charset="0"/>
              </a:rPr>
              <a:t>Conclusiones y próximos pasos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5A81EB6-9E5C-4347-B364-D97F78DE5F10}"/>
              </a:ext>
            </a:extLst>
          </p:cNvPr>
          <p:cNvSpPr txBox="1"/>
          <p:nvPr/>
        </p:nvSpPr>
        <p:spPr>
          <a:xfrm>
            <a:off x="6527800" y="2362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Producto: framework operativo en local, con panel de control y reportes.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Metodología: la documentación ágil y el diseño UML fijaron el alcance del desarrollo.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Próximo paso: integración cross-browser en la nube y estabilización final.</a:t>
            </a:r>
          </a:p>
          <a:p>
            <a:pPr>
              <a:spcAft>
                <a:spcPts val="800"/>
              </a:spcAft>
            </a:pPr>
            <a:r>
              <a:rPr lang="es-MX" sz="1150">
                <a:solidFill>
                  <a:srgbClr val="334155"/>
                </a:solidFill>
                <a:latin typeface="Segoe UI" panose="020B0502040204020203" pitchFamily="34" charset="0"/>
              </a:rPr>
              <a:t>•  Aprendizaje: la subestimación del alcance se corrigió priorizando y ajustando el plan.</a:t>
            </a:r>
            <a:endParaRPr lang="es-CL" sz="115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1F567F7-1269-4326-AC37-D82C75B47677}"/>
              </a:ext>
            </a:extLst>
          </p:cNvPr>
          <p:cNvSpPr/>
          <p:nvPr/>
        </p:nvSpPr>
        <p:spPr>
          <a:xfrm>
            <a:off x="762000" y="4953000"/>
            <a:ext cx="10668000" cy="1346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4AB3D78-60F9-4B23-A732-65566679C140}"/>
              </a:ext>
            </a:extLst>
          </p:cNvPr>
          <p:cNvSpPr txBox="1"/>
          <p:nvPr/>
        </p:nvSpPr>
        <p:spPr>
          <a:xfrm>
            <a:off x="1066800" y="515620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2200" b="1">
                <a:solidFill>
                  <a:srgbClr val="FFFFFF"/>
                </a:solidFill>
                <a:latin typeface="Segoe UI" panose="020B0502040204020203" pitchFamily="34" charset="0"/>
              </a:rPr>
              <a:t>Gracias — ¿Preguntas?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BA58FF6-F59C-49C0-ACA7-4024C9E9ED3B}"/>
              </a:ext>
            </a:extLst>
          </p:cNvPr>
          <p:cNvSpPr txBox="1"/>
          <p:nvPr/>
        </p:nvSpPr>
        <p:spPr>
          <a:xfrm>
            <a:off x="1066800" y="563880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CL" sz="1200">
                <a:solidFill>
                  <a:srgbClr val="A5B4FC"/>
                </a:solidFill>
                <a:latin typeface="Segoe UI" panose="020B0502040204020203" pitchFamily="34" charset="0"/>
              </a:rPr>
              <a:t>Alex Mauricio Puebla Allendes  ·  José Ignacio Valdivia Mendoza   |   CACHAI-QA · Proyecto APT 2026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F929068-1D67-4F03-A5D9-C73185B604B2}"/>
              </a:ext>
            </a:extLst>
          </p:cNvPr>
          <p:cNvSpPr txBox="1"/>
          <p:nvPr/>
        </p:nvSpPr>
        <p:spPr>
          <a:xfrm>
            <a:off x="762000" y="6451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s-MX" sz="900">
                <a:solidFill>
                  <a:srgbClr val="94A3B8"/>
                </a:solidFill>
                <a:latin typeface="Segoe UI" panose="020B0502040204020203" pitchFamily="34" charset="0"/>
              </a:rPr>
              <a:t>CACHAI-QA  .  Proyecto APT  .  Evaluacion Sumativa 2</a:t>
            </a:r>
            <a:endParaRPr lang="es-CL" sz="9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DC83B38-D4D1-4EF8-959D-1EBC7AC3FB38}"/>
              </a:ext>
            </a:extLst>
          </p:cNvPr>
          <p:cNvSpPr/>
          <p:nvPr/>
        </p:nvSpPr>
        <p:spPr>
          <a:xfrm>
            <a:off x="762000" y="6375400"/>
            <a:ext cx="106680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6258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1844</Words>
  <Application>Microsoft Office PowerPoint</Application>
  <PresentationFormat>Panorámica</PresentationFormat>
  <Paragraphs>234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 Allendes</dc:creator>
  <cp:lastModifiedBy>Alex Allendes</cp:lastModifiedBy>
  <cp:revision>4</cp:revision>
  <dcterms:created xsi:type="dcterms:W3CDTF">2026-10-17T15:46:11Z</dcterms:created>
  <dcterms:modified xsi:type="dcterms:W3CDTF">2026-10-19T00:27:51Z</dcterms:modified>
</cp:coreProperties>
</file>