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25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35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18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QA / AUTOMATIZACIÓN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CACHAI-QA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Automated Checks &amp; Headless Assertions Infrastructure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5FBFB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822960" y="4800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Mauricio Puebla Allendes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Ignacio Valdivia Mendoza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Plug &amp; Play de automatización de pruebas E2E para Front-End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Problemática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0171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dinámicas y asincrónicas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8580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 apps web modernas dificultan la validación manual consistente de sus flujos.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16002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46" y="20171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latencia y fragilidad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52628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regresión manuales son lentas y susceptibles a errores humanos.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38160" y="16002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841248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01716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6676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Altos costos operativos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36676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testing manual repetitivo consume tiempo y recursos del equipo de QA.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57200" y="470916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6"/>
          <p:cNvSpPr/>
          <p:nvPr/>
        </p:nvSpPr>
        <p:spPr>
          <a:xfrm>
            <a:off x="777240" y="4709160"/>
            <a:ext cx="106344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Necesidad: una solución automatizada, mantenible y escalable para validar aplicaciones web dinámicas.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85800" y="17602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85800" y="17602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60020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framework Plug &amp; Play ingresando únicamente la URL a evaluar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85800" y="28117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85800" y="2811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63040" y="265176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automáticamente la página y detectar enlaces, imágenes y formularios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685800" y="38633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685800" y="3863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63040" y="370332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escenarios de prueba genéricos en lenguaje natural, adaptables a cada página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57200" y="475488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685800" y="49149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85800" y="49149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63040" y="475488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las pruebas en la nube con BrowserStack y generar un reporte visual de diagnóstico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/ Solución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828799"/>
            <a:ext cx="2606040" cy="3677713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14401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799" y="22567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E2E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 rot="5400000">
            <a:off x="3097530" y="2916936"/>
            <a:ext cx="201168" cy="201168"/>
          </a:xfrm>
          <a:prstGeom prst="triangl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3291840" y="1828800"/>
            <a:ext cx="2606040" cy="3677712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427482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2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22567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2900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+ POM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 rot="5400000">
            <a:off x="5932170" y="2916936"/>
            <a:ext cx="201168" cy="201168"/>
          </a:xfrm>
          <a:prstGeom prst="triangl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6111850" y="1828800"/>
            <a:ext cx="2606040" cy="3677712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4"/>
          <p:cNvSpPr/>
          <p:nvPr/>
        </p:nvSpPr>
        <p:spPr>
          <a:xfrm>
            <a:off x="71094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3" descr="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079" y="225673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364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BrowserStack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 rot="5400000">
            <a:off x="8766810" y="2916936"/>
            <a:ext cx="201168" cy="201168"/>
          </a:xfrm>
          <a:prstGeom prst="triangl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18"/>
          <p:cNvSpPr/>
          <p:nvPr/>
        </p:nvSpPr>
        <p:spPr>
          <a:xfrm>
            <a:off x="8967978" y="1828799"/>
            <a:ext cx="2606040" cy="3677707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19"/>
          <p:cNvSpPr/>
          <p:nvPr/>
        </p:nvSpPr>
        <p:spPr>
          <a:xfrm>
            <a:off x="994410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4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7719" y="22567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828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tiempo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457200" y="5815583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solo ingresa la URL; el framework escanea la página y genera las pruebas automáticamente.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FC3859BA-7C48-42A7-9802-AE56D34A7AEE}"/>
              </a:ext>
            </a:extLst>
          </p:cNvPr>
          <p:cNvSpPr/>
          <p:nvPr/>
        </p:nvSpPr>
        <p:spPr>
          <a:xfrm>
            <a:off x="59436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Escaneo automático de cualquier página web (Plug &amp; Play)</a:t>
            </a:r>
            <a:endParaRPr lang="en-US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BD833EC4-1C45-461B-8297-9D25A60B9E89}"/>
              </a:ext>
            </a:extLst>
          </p:cNvPr>
          <p:cNvSpPr/>
          <p:nvPr/>
        </p:nvSpPr>
        <p:spPr>
          <a:xfrm>
            <a:off x="342900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Patrón Page Object Model para mantenibilidad</a:t>
            </a:r>
            <a:endParaRPr lang="en-US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6AC2C18F-84FA-43D1-BBC1-8512DD9585CB}"/>
              </a:ext>
            </a:extLst>
          </p:cNvPr>
          <p:cNvSpPr/>
          <p:nvPr/>
        </p:nvSpPr>
        <p:spPr>
          <a:xfrm>
            <a:off x="626364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dirty="0"/>
              <a:t>Ejecutar las pruebas de forma remota en distintos</a:t>
            </a:r>
            <a:endParaRPr lang="en-US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071C0553-EE79-4E2B-B7C6-DC96AAD8E9B2}"/>
              </a:ext>
            </a:extLst>
          </p:cNvPr>
          <p:cNvSpPr/>
          <p:nvPr/>
        </p:nvSpPr>
        <p:spPr>
          <a:xfrm>
            <a:off x="909828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tiempos de validación y estabilización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Mínimo Viable (PMV)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170992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instala el sistema e ingresa la URL en la configuración inicial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4805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74920" y="170992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abre la URL y escanea sus elementos principales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13816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83210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83210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915400" y="170992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ejecutan escenarios de prueba genéricos (carga, enlaces rotos, errores)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57200" y="36118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34440" y="372160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corren de forma remota e invisible en la nube con BrowserStack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297680" y="36118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448056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4805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074920" y="372160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un panel visual con los resultados de cada prueba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8138160" y="36118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4"/>
          <p:cNvSpPr/>
          <p:nvPr/>
        </p:nvSpPr>
        <p:spPr>
          <a:xfrm>
            <a:off x="832104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83210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915400" y="372160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recibe el enlace con el diagnóstico de la URL evaluada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57200" y="5532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731520" y="553212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end-to-end desatendida: desde el ingreso de la URL hasta el reporte final de resultados.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5548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PMV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362458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502920" y="1404449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85800" y="17602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C467FD0-22CE-40D5-A62C-D903D05FC82B}"/>
              </a:ext>
            </a:extLst>
          </p:cNvPr>
          <p:cNvSpPr/>
          <p:nvPr/>
        </p:nvSpPr>
        <p:spPr>
          <a:xfrm>
            <a:off x="457200" y="1992492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692F9753-5EE8-4F15-86B5-D5E904CAA7A1}"/>
              </a:ext>
            </a:extLst>
          </p:cNvPr>
          <p:cNvSpPr/>
          <p:nvPr/>
        </p:nvSpPr>
        <p:spPr>
          <a:xfrm>
            <a:off x="457200" y="2622526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6EB44F7E-0C02-4F57-A1CA-288575A573D8}"/>
              </a:ext>
            </a:extLst>
          </p:cNvPr>
          <p:cNvSpPr/>
          <p:nvPr/>
        </p:nvSpPr>
        <p:spPr>
          <a:xfrm>
            <a:off x="457200" y="3252560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907EC257-DE5C-4F8C-82FD-4C0E324C7AC9}"/>
              </a:ext>
            </a:extLst>
          </p:cNvPr>
          <p:cNvSpPr/>
          <p:nvPr/>
        </p:nvSpPr>
        <p:spPr>
          <a:xfrm>
            <a:off x="457200" y="3882594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5FBE7161-69A1-4CC4-AA04-4FA011F98DD2}"/>
              </a:ext>
            </a:extLst>
          </p:cNvPr>
          <p:cNvSpPr/>
          <p:nvPr/>
        </p:nvSpPr>
        <p:spPr>
          <a:xfrm>
            <a:off x="457200" y="4512628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D0C6BAEF-25B2-4BD9-B5F7-41EB6D28A25B}"/>
              </a:ext>
            </a:extLst>
          </p:cNvPr>
          <p:cNvSpPr/>
          <p:nvPr/>
        </p:nvSpPr>
        <p:spPr>
          <a:xfrm>
            <a:off x="457200" y="5142662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1B0DE221-D792-4D8E-A7FC-CAFF07B8FC10}"/>
              </a:ext>
            </a:extLst>
          </p:cNvPr>
          <p:cNvSpPr/>
          <p:nvPr/>
        </p:nvSpPr>
        <p:spPr>
          <a:xfrm>
            <a:off x="502920" y="2017224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6E9E4B3F-5226-4195-ADB3-77785BD855C0}"/>
              </a:ext>
            </a:extLst>
          </p:cNvPr>
          <p:cNvSpPr/>
          <p:nvPr/>
        </p:nvSpPr>
        <p:spPr>
          <a:xfrm>
            <a:off x="502920" y="2664631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536D2C7B-03E2-42ED-B404-197E44D4AA57}"/>
              </a:ext>
            </a:extLst>
          </p:cNvPr>
          <p:cNvSpPr/>
          <p:nvPr/>
        </p:nvSpPr>
        <p:spPr>
          <a:xfrm>
            <a:off x="502920" y="3304538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BE6CFFC0-93A0-4F70-B5EF-3EFA2D5A3CF5}"/>
              </a:ext>
            </a:extLst>
          </p:cNvPr>
          <p:cNvSpPr/>
          <p:nvPr/>
        </p:nvSpPr>
        <p:spPr>
          <a:xfrm>
            <a:off x="502920" y="3918735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C547EB31-ACB7-4C72-92E0-E5297767F362}"/>
              </a:ext>
            </a:extLst>
          </p:cNvPr>
          <p:cNvSpPr/>
          <p:nvPr/>
        </p:nvSpPr>
        <p:spPr>
          <a:xfrm>
            <a:off x="502920" y="4554954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5C65549D-36E2-4A3F-989A-AED34DF4625D}"/>
              </a:ext>
            </a:extLst>
          </p:cNvPr>
          <p:cNvSpPr/>
          <p:nvPr/>
        </p:nvSpPr>
        <p:spPr>
          <a:xfrm>
            <a:off x="502920" y="5178803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80060" y="196407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3B17529A-24E8-4103-9A3C-565D3763C298}"/>
              </a:ext>
            </a:extLst>
          </p:cNvPr>
          <p:cNvSpPr/>
          <p:nvPr/>
        </p:nvSpPr>
        <p:spPr>
          <a:xfrm>
            <a:off x="480060" y="136402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18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0337C313-1FFF-4922-8AFA-AD5EC5173DC6}"/>
              </a:ext>
            </a:extLst>
          </p:cNvPr>
          <p:cNvSpPr/>
          <p:nvPr/>
        </p:nvSpPr>
        <p:spPr>
          <a:xfrm>
            <a:off x="480371" y="261090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18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BA75BC77-27D4-465E-B261-7B4032A72C44}"/>
              </a:ext>
            </a:extLst>
          </p:cNvPr>
          <p:cNvSpPr/>
          <p:nvPr/>
        </p:nvSpPr>
        <p:spPr>
          <a:xfrm>
            <a:off x="480371" y="325909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8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601E0953-4839-4C16-A1C6-784CC2448547}"/>
              </a:ext>
            </a:extLst>
          </p:cNvPr>
          <p:cNvSpPr/>
          <p:nvPr/>
        </p:nvSpPr>
        <p:spPr>
          <a:xfrm>
            <a:off x="480060" y="387606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18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0A252115-DB69-4412-93E8-0B143AD2379F}"/>
              </a:ext>
            </a:extLst>
          </p:cNvPr>
          <p:cNvSpPr/>
          <p:nvPr/>
        </p:nvSpPr>
        <p:spPr>
          <a:xfrm>
            <a:off x="476954" y="45074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180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B44A9DD5-C209-43DD-BC54-EB655FBB85DA}"/>
              </a:ext>
            </a:extLst>
          </p:cNvPr>
          <p:cNvSpPr/>
          <p:nvPr/>
        </p:nvSpPr>
        <p:spPr>
          <a:xfrm>
            <a:off x="480371" y="51147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1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42484183-A565-4E69-AD1B-B01A0868EA0D}"/>
              </a:ext>
            </a:extLst>
          </p:cNvPr>
          <p:cNvSpPr txBox="1"/>
          <p:nvPr/>
        </p:nvSpPr>
        <p:spPr>
          <a:xfrm>
            <a:off x="1312506" y="1452112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usuario instala el sistema y, en el archivo de configuración inicial, ingresa únicamente la URL a revisar.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28F7875-74DF-4991-978D-3E05CD4F67FB}"/>
              </a:ext>
            </a:extLst>
          </p:cNvPr>
          <p:cNvSpPr txBox="1"/>
          <p:nvPr/>
        </p:nvSpPr>
        <p:spPr>
          <a:xfrm>
            <a:off x="1312506" y="207726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 iniciar, el framework abre la URL y escanea automáticamente sus elementos principales (enlaces, imágenes, formularios).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4FD771D-375E-4F19-8448-E2AA1105A793}"/>
              </a:ext>
            </a:extLst>
          </p:cNvPr>
          <p:cNvSpPr txBox="1"/>
          <p:nvPr/>
        </p:nvSpPr>
        <p:spPr>
          <a:xfrm>
            <a:off x="1312506" y="269997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sistema ejecuta escenarios de prueba genéricos, como verificar la carga completa de la página o la ausencia de enlaces rotos.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09E788E-A743-48AA-8475-2B9A1F194686}"/>
              </a:ext>
            </a:extLst>
          </p:cNvPr>
          <p:cNvSpPr txBox="1"/>
          <p:nvPr/>
        </p:nvSpPr>
        <p:spPr>
          <a:xfrm>
            <a:off x="1312506" y="3342070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 pruebas se adaptan a la cantidad de elementos encontrados, esperando a que la página esté completamente visible.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E54BBB0-ED55-4DE5-BA91-55A6708057E2}"/>
              </a:ext>
            </a:extLst>
          </p:cNvPr>
          <p:cNvSpPr txBox="1"/>
          <p:nvPr/>
        </p:nvSpPr>
        <p:spPr>
          <a:xfrm>
            <a:off x="1312506" y="397210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 pruebas se ejecutan de forma invisible y remota en la nube utilizando BrowserStack.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7166A5C-6E9B-42D1-846C-453B1FF16782}"/>
              </a:ext>
            </a:extLst>
          </p:cNvPr>
          <p:cNvSpPr txBox="1"/>
          <p:nvPr/>
        </p:nvSpPr>
        <p:spPr>
          <a:xfrm>
            <a:off x="1312506" y="459413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BrowserStack publica los resultados, videos y errores encontrados en su panel visual de diagnóstico.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B23B03E-8297-4004-A054-119C49012D94}"/>
              </a:ext>
            </a:extLst>
          </p:cNvPr>
          <p:cNvSpPr txBox="1"/>
          <p:nvPr/>
        </p:nvSpPr>
        <p:spPr>
          <a:xfrm>
            <a:off x="1312506" y="5154111"/>
            <a:ext cx="10120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 finalizar, el usuario recibe un enlace con el panel visual que detalla qué pruebas pasaron y cuáles fallaron.</a:t>
            </a:r>
          </a:p>
        </p:txBody>
      </p:sp>
    </p:spTree>
    <p:extLst>
      <p:ext uri="{BB962C8B-B14F-4D97-AF65-F5344CB8AC3E}">
        <p14:creationId xmlns:p14="http://schemas.microsoft.com/office/powerpoint/2010/main" val="68994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 del PMV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41EE6E2-6EF3-4990-97D2-96CB3BCAE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445" y="1235909"/>
            <a:ext cx="8285583" cy="525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1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Épicas del Proyecto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Shape C0"/>
          <p:cNvSpPr/>
          <p:nvPr/>
        </p:nvSpPr>
        <p:spPr>
          <a:xfrm>
            <a:off x="457200" y="1600200"/>
            <a:ext cx="360578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Shape Cir0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2" name="Text Num0"/>
          <p:cNvSpPr/>
          <p:nvPr/>
        </p:nvSpPr>
        <p:spPr>
          <a:xfrm>
            <a:off x="713232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3" name="Text Title0"/>
          <p:cNvSpPr/>
          <p:nvPr/>
        </p:nvSpPr>
        <p:spPr>
          <a:xfrm>
            <a:off x="1371600" y="1801368"/>
            <a:ext cx="24170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EP-001 · Configuración Inicial</a:t>
            </a:r>
            <a:endParaRPr lang="en-US" sz="1500" dirty="0"/>
          </a:p>
        </p:txBody>
      </p:sp>
      <p:sp>
        <p:nvSpPr>
          <p:cNvPr id="104" name="Text Desc0"/>
          <p:cNvSpPr/>
          <p:nvPr/>
        </p:nvSpPr>
        <p:spPr>
          <a:xfrm>
            <a:off x="713232" y="2560320"/>
            <a:ext cx="309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simple: solo se requiere la URL</a:t>
            </a:r>
            <a:endParaRPr lang="en-US" dirty="0"/>
          </a:p>
        </p:txBody>
      </p:sp>
      <p:sp>
        <p:nvSpPr>
          <p:cNvPr id="110" name="Shape C1"/>
          <p:cNvSpPr/>
          <p:nvPr/>
        </p:nvSpPr>
        <p:spPr>
          <a:xfrm>
            <a:off x="4291584" y="1600200"/>
            <a:ext cx="360578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Shape Cir1"/>
          <p:cNvSpPr/>
          <p:nvPr/>
        </p:nvSpPr>
        <p:spPr>
          <a:xfrm>
            <a:off x="4547616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2" name="Text Num1"/>
          <p:cNvSpPr/>
          <p:nvPr/>
        </p:nvSpPr>
        <p:spPr>
          <a:xfrm>
            <a:off x="4547616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3" name="Text Title1"/>
          <p:cNvSpPr/>
          <p:nvPr/>
        </p:nvSpPr>
        <p:spPr>
          <a:xfrm>
            <a:off x="5205984" y="1801368"/>
            <a:ext cx="24170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EP-002 · Escaneo Automático</a:t>
            </a:r>
            <a:endParaRPr lang="en-US" sz="1500" dirty="0"/>
          </a:p>
        </p:txBody>
      </p:sp>
      <p:sp>
        <p:nvSpPr>
          <p:cNvPr id="114" name="Text Desc1"/>
          <p:cNvSpPr/>
          <p:nvPr/>
        </p:nvSpPr>
        <p:spPr>
          <a:xfrm>
            <a:off x="4547616" y="2560320"/>
            <a:ext cx="309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enlaces, imágenes y botones</a:t>
            </a:r>
            <a:endParaRPr lang="en-US" dirty="0"/>
          </a:p>
        </p:txBody>
      </p:sp>
      <p:sp>
        <p:nvSpPr>
          <p:cNvPr id="120" name="Shape C2"/>
          <p:cNvSpPr/>
          <p:nvPr/>
        </p:nvSpPr>
        <p:spPr>
          <a:xfrm>
            <a:off x="8125968" y="1600200"/>
            <a:ext cx="360578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1" name="Shape Cir2"/>
          <p:cNvSpPr/>
          <p:nvPr/>
        </p:nvSpPr>
        <p:spPr>
          <a:xfrm>
            <a:off x="8382000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2" name="Text Num2"/>
          <p:cNvSpPr/>
          <p:nvPr/>
        </p:nvSpPr>
        <p:spPr>
          <a:xfrm>
            <a:off x="838200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23" name="Text Title2"/>
          <p:cNvSpPr/>
          <p:nvPr/>
        </p:nvSpPr>
        <p:spPr>
          <a:xfrm>
            <a:off x="9040368" y="1801368"/>
            <a:ext cx="24170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EP-003 · Escenarios Genéricos</a:t>
            </a:r>
            <a:endParaRPr lang="en-US" sz="1500" dirty="0"/>
          </a:p>
        </p:txBody>
      </p:sp>
      <p:sp>
        <p:nvSpPr>
          <p:cNvPr id="124" name="Text Desc2"/>
          <p:cNvSpPr/>
          <p:nvPr/>
        </p:nvSpPr>
        <p:spPr>
          <a:xfrm>
            <a:off x="8382000" y="2560320"/>
            <a:ext cx="309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universales en lenguaje natural</a:t>
            </a:r>
            <a:endParaRPr lang="en-US" dirty="0"/>
          </a:p>
        </p:txBody>
      </p:sp>
      <p:sp>
        <p:nvSpPr>
          <p:cNvPr id="130" name="Shape C3"/>
          <p:cNvSpPr/>
          <p:nvPr/>
        </p:nvSpPr>
        <p:spPr>
          <a:xfrm>
            <a:off x="457200" y="3657600"/>
            <a:ext cx="360578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1" name="Shape Cir3"/>
          <p:cNvSpPr/>
          <p:nvPr/>
        </p:nvSpPr>
        <p:spPr>
          <a:xfrm>
            <a:off x="713232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2" name="Text Num3"/>
          <p:cNvSpPr/>
          <p:nvPr/>
        </p:nvSpPr>
        <p:spPr>
          <a:xfrm>
            <a:off x="713232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33" name="Text Title3"/>
          <p:cNvSpPr/>
          <p:nvPr/>
        </p:nvSpPr>
        <p:spPr>
          <a:xfrm>
            <a:off x="1371600" y="3858768"/>
            <a:ext cx="24170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EP-004 · Adaptabilidad Dinámica</a:t>
            </a:r>
            <a:endParaRPr lang="en-US" sz="1500" dirty="0"/>
          </a:p>
        </p:txBody>
      </p:sp>
      <p:sp>
        <p:nvSpPr>
          <p:cNvPr id="134" name="Text Desc3"/>
          <p:cNvSpPr/>
          <p:nvPr/>
        </p:nvSpPr>
        <p:spPr>
          <a:xfrm>
            <a:off x="713232" y="4617720"/>
            <a:ext cx="309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 a la cantidad de elementos hallados</a:t>
            </a:r>
            <a:endParaRPr lang="en-US" dirty="0"/>
          </a:p>
        </p:txBody>
      </p:sp>
      <p:sp>
        <p:nvSpPr>
          <p:cNvPr id="140" name="Shape C4"/>
          <p:cNvSpPr/>
          <p:nvPr/>
        </p:nvSpPr>
        <p:spPr>
          <a:xfrm>
            <a:off x="4291584" y="3657600"/>
            <a:ext cx="360578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1" name="Shape Cir4"/>
          <p:cNvSpPr/>
          <p:nvPr/>
        </p:nvSpPr>
        <p:spPr>
          <a:xfrm>
            <a:off x="4547616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2" name="Text Num4"/>
          <p:cNvSpPr/>
          <p:nvPr/>
        </p:nvSpPr>
        <p:spPr>
          <a:xfrm>
            <a:off x="4547616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143" name="Text Title4"/>
          <p:cNvSpPr/>
          <p:nvPr/>
        </p:nvSpPr>
        <p:spPr>
          <a:xfrm>
            <a:off x="5205984" y="3858768"/>
            <a:ext cx="24170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EP-005 · Ejecución en la Nube</a:t>
            </a:r>
            <a:endParaRPr lang="en-US" sz="1500" dirty="0"/>
          </a:p>
        </p:txBody>
      </p:sp>
      <p:sp>
        <p:nvSpPr>
          <p:cNvPr id="144" name="Text Desc4"/>
          <p:cNvSpPr/>
          <p:nvPr/>
        </p:nvSpPr>
        <p:spPr>
          <a:xfrm>
            <a:off x="4547616" y="4617720"/>
            <a:ext cx="309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BrowserStack, multi-navegador</a:t>
            </a:r>
            <a:endParaRPr lang="en-US" dirty="0"/>
          </a:p>
        </p:txBody>
      </p:sp>
      <p:sp>
        <p:nvSpPr>
          <p:cNvPr id="150" name="Shape C5"/>
          <p:cNvSpPr/>
          <p:nvPr/>
        </p:nvSpPr>
        <p:spPr>
          <a:xfrm>
            <a:off x="8125968" y="3657600"/>
            <a:ext cx="360578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1" name="Shape Cir5"/>
          <p:cNvSpPr/>
          <p:nvPr/>
        </p:nvSpPr>
        <p:spPr>
          <a:xfrm>
            <a:off x="8382000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2" name="Text Num5"/>
          <p:cNvSpPr/>
          <p:nvPr/>
        </p:nvSpPr>
        <p:spPr>
          <a:xfrm>
            <a:off x="838200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153" name="Text Title5"/>
          <p:cNvSpPr/>
          <p:nvPr/>
        </p:nvSpPr>
        <p:spPr>
          <a:xfrm>
            <a:off x="9040368" y="3858768"/>
            <a:ext cx="24170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EP-006 · Diagnóstico y Reportes</a:t>
            </a:r>
            <a:endParaRPr lang="en-US" sz="1500" dirty="0"/>
          </a:p>
        </p:txBody>
      </p:sp>
      <p:sp>
        <p:nvSpPr>
          <p:cNvPr id="154" name="Text Desc5"/>
          <p:cNvSpPr/>
          <p:nvPr/>
        </p:nvSpPr>
        <p:spPr>
          <a:xfrm>
            <a:off x="8382000" y="4617720"/>
            <a:ext cx="309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visual con resultados y errores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57200" y="5532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731520" y="553212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Puntos de Función distribuidos en 6 épicas incrementales a lo largo de 10 semanas.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1097280" y="2377440"/>
            <a:ext cx="9994392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841248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4124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79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escaneo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172712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172712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14343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adaptabilidad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04176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7504176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45807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0835640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10835640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177271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8640" y="3858768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orientada al desarrollo de un PMV, basada en épicas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 del esfuerzo mediante Poker Planning (35 Puntos de Función)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iterativo, avanzando de forma incremental entre épicas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respaldado por GitHub Actions para ejecuciones desatendidas (headless)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9604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681021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E2E con TypeScript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297680" y="1600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4" y="196047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9823" y="2738629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diseño para mantenibilidad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8138160" y="1600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1960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66760" y="2738629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multi-navegador y multi-SO en la nube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441960" y="374904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6"/>
          <p:cNvSpPr/>
          <p:nvPr/>
        </p:nvSpPr>
        <p:spPr>
          <a:xfrm>
            <a:off x="685800" y="3977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4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4" y="4109314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" y="4892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MX" dirty="0"/>
              <a:t>Lenguaje principal estructurado y tipado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4297680" y="3743753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0"/>
          <p:cNvSpPr/>
          <p:nvPr/>
        </p:nvSpPr>
        <p:spPr>
          <a:xfrm>
            <a:off x="4526280" y="3977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8" name="Image 5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954" y="4109314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26280" y="4892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dirty="0"/>
          </a:p>
        </p:txBody>
      </p:sp>
      <p:sp>
        <p:nvSpPr>
          <p:cNvPr id="31" name="Shape 23"/>
          <p:cNvSpPr/>
          <p:nvPr/>
        </p:nvSpPr>
        <p:spPr>
          <a:xfrm>
            <a:off x="8138160" y="374904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24"/>
          <p:cNvSpPr/>
          <p:nvPr/>
        </p:nvSpPr>
        <p:spPr>
          <a:xfrm>
            <a:off x="8366760" y="3977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3" name="Image 6" descr="icons/task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8434" y="4109314"/>
            <a:ext cx="285293" cy="28529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66760" y="4892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aplicable a cualquier URL ingresada (Plug &amp; Play)</a:t>
            </a: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3081652D-4383-43EC-8587-05C7D960E1BF}"/>
              </a:ext>
            </a:extLst>
          </p:cNvPr>
          <p:cNvSpPr/>
          <p:nvPr/>
        </p:nvSpPr>
        <p:spPr>
          <a:xfrm>
            <a:off x="1274674" y="19431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20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5EB110FF-1458-490D-90FB-59597FC5A6F4}"/>
              </a:ext>
            </a:extLst>
          </p:cNvPr>
          <p:cNvSpPr/>
          <p:nvPr/>
        </p:nvSpPr>
        <p:spPr>
          <a:xfrm>
            <a:off x="5115154" y="19431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</a:t>
            </a:r>
            <a:endParaRPr lang="en-US" sz="20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8992BAD-E3C5-42E2-81D3-E4DBB61ED645}"/>
              </a:ext>
            </a:extLst>
          </p:cNvPr>
          <p:cNvSpPr/>
          <p:nvPr/>
        </p:nvSpPr>
        <p:spPr>
          <a:xfrm>
            <a:off x="8955634" y="19431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BrowserStack Automate</a:t>
            </a:r>
            <a:endParaRPr lang="en-US" sz="2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8C178633-0438-4933-B21A-5DE871E12C25}"/>
              </a:ext>
            </a:extLst>
          </p:cNvPr>
          <p:cNvSpPr/>
          <p:nvPr/>
        </p:nvSpPr>
        <p:spPr>
          <a:xfrm>
            <a:off x="1274674" y="40919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TypeScript</a:t>
            </a:r>
            <a:endParaRPr lang="en-US" sz="200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C481E8E7-0C77-4289-B4E7-1FAD1A054915}"/>
              </a:ext>
            </a:extLst>
          </p:cNvPr>
          <p:cNvSpPr/>
          <p:nvPr/>
        </p:nvSpPr>
        <p:spPr>
          <a:xfrm>
            <a:off x="5115154" y="40919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Navegadores</a:t>
            </a:r>
            <a:endParaRPr lang="en-US" sz="20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AE6B61AE-057A-4B64-8CFF-08B368F43D2D}"/>
              </a:ext>
            </a:extLst>
          </p:cNvPr>
          <p:cNvSpPr/>
          <p:nvPr/>
        </p:nvSpPr>
        <p:spPr>
          <a:xfrm>
            <a:off x="8955634" y="40919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Escaneo Genérico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Plan de Trabajo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Cronograma: 10 semanas operativas (semana 5 a semana 14) · 35 Puntos de Función</a:t>
            </a:r>
            <a:endParaRPr lang="en-US" sz="2000" dirty="0"/>
          </a:p>
        </p:txBody>
      </p:sp>
      <p:sp>
        <p:nvSpPr>
          <p:cNvPr id="200" name="Label0"/>
          <p:cNvSpPr/>
          <p:nvPr/>
        </p:nvSpPr>
        <p:spPr>
          <a:xfrm>
            <a:off x="457200" y="196596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EP-001 Configuración Inicial (4 PF)</a:t>
            </a:r>
            <a:endParaRPr lang="en-US" dirty="0"/>
          </a:p>
        </p:txBody>
      </p:sp>
      <p:sp>
        <p:nvSpPr>
          <p:cNvPr id="201" name="Lane0"/>
          <p:cNvSpPr/>
          <p:nvPr/>
        </p:nvSpPr>
        <p:spPr>
          <a:xfrm>
            <a:off x="4206240" y="2039112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2" name="Bar0"/>
          <p:cNvSpPr/>
          <p:nvPr/>
        </p:nvSpPr>
        <p:spPr>
          <a:xfrm>
            <a:off x="4206240" y="2039112"/>
            <a:ext cx="752551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0" name="Label1"/>
          <p:cNvSpPr/>
          <p:nvPr/>
        </p:nvSpPr>
        <p:spPr>
          <a:xfrm>
            <a:off x="457200" y="253288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EP-002 Escaneo Automático (9 PF)</a:t>
            </a:r>
            <a:endParaRPr lang="en-US" dirty="0"/>
          </a:p>
        </p:txBody>
      </p:sp>
      <p:sp>
        <p:nvSpPr>
          <p:cNvPr id="211" name="Lane1"/>
          <p:cNvSpPr/>
          <p:nvPr/>
        </p:nvSpPr>
        <p:spPr>
          <a:xfrm>
            <a:off x="4206240" y="2606040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2" name="Bar1"/>
          <p:cNvSpPr/>
          <p:nvPr/>
        </p:nvSpPr>
        <p:spPr>
          <a:xfrm>
            <a:off x="4958791" y="2606040"/>
            <a:ext cx="2257654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0" name="Label2"/>
          <p:cNvSpPr/>
          <p:nvPr/>
        </p:nvSpPr>
        <p:spPr>
          <a:xfrm>
            <a:off x="457200" y="309981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EP-003 Escenarios Genéricos (7 PF)</a:t>
            </a:r>
            <a:endParaRPr lang="en-US" dirty="0"/>
          </a:p>
        </p:txBody>
      </p:sp>
      <p:sp>
        <p:nvSpPr>
          <p:cNvPr id="221" name="Lane2"/>
          <p:cNvSpPr/>
          <p:nvPr/>
        </p:nvSpPr>
        <p:spPr>
          <a:xfrm>
            <a:off x="4206240" y="3172968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2" name="Bar2"/>
          <p:cNvSpPr/>
          <p:nvPr/>
        </p:nvSpPr>
        <p:spPr>
          <a:xfrm>
            <a:off x="6463894" y="3172968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0" name="Label3"/>
          <p:cNvSpPr/>
          <p:nvPr/>
        </p:nvSpPr>
        <p:spPr>
          <a:xfrm>
            <a:off x="457200" y="366674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EP-004 Adaptabilidad Dinámica (6 PF)</a:t>
            </a:r>
            <a:endParaRPr lang="en-US" dirty="0"/>
          </a:p>
        </p:txBody>
      </p:sp>
      <p:sp>
        <p:nvSpPr>
          <p:cNvPr id="231" name="Lane3"/>
          <p:cNvSpPr/>
          <p:nvPr/>
        </p:nvSpPr>
        <p:spPr>
          <a:xfrm>
            <a:off x="4206240" y="3739896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2" name="Bar3"/>
          <p:cNvSpPr/>
          <p:nvPr/>
        </p:nvSpPr>
        <p:spPr>
          <a:xfrm>
            <a:off x="7216445" y="3739896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0" name="Label4"/>
          <p:cNvSpPr/>
          <p:nvPr/>
        </p:nvSpPr>
        <p:spPr>
          <a:xfrm>
            <a:off x="457200" y="423367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EP-005 Ejecución en la Nube (5 PF)</a:t>
            </a:r>
            <a:endParaRPr lang="en-US" dirty="0"/>
          </a:p>
        </p:txBody>
      </p:sp>
      <p:sp>
        <p:nvSpPr>
          <p:cNvPr id="241" name="Lane4"/>
          <p:cNvSpPr/>
          <p:nvPr/>
        </p:nvSpPr>
        <p:spPr>
          <a:xfrm>
            <a:off x="4206240" y="4306824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2" name="Bar4"/>
          <p:cNvSpPr/>
          <p:nvPr/>
        </p:nvSpPr>
        <p:spPr>
          <a:xfrm>
            <a:off x="8721547" y="4306824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0" name="Label5"/>
          <p:cNvSpPr/>
          <p:nvPr/>
        </p:nvSpPr>
        <p:spPr>
          <a:xfrm>
            <a:off x="457200" y="480060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EP-006 Diagnóstico y Reportes (4 PF)</a:t>
            </a:r>
            <a:endParaRPr lang="en-US" dirty="0"/>
          </a:p>
        </p:txBody>
      </p:sp>
      <p:sp>
        <p:nvSpPr>
          <p:cNvPr id="251" name="Lane5"/>
          <p:cNvSpPr/>
          <p:nvPr/>
        </p:nvSpPr>
        <p:spPr>
          <a:xfrm>
            <a:off x="4206240" y="4873752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2" name="Bar5"/>
          <p:cNvSpPr/>
          <p:nvPr/>
        </p:nvSpPr>
        <p:spPr>
          <a:xfrm>
            <a:off x="10226650" y="4873752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0" name="Label6"/>
          <p:cNvSpPr/>
          <p:nvPr/>
        </p:nvSpPr>
        <p:spPr>
          <a:xfrm>
            <a:off x="457200" y="536752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Estabilización, Informe y Defensa</a:t>
            </a:r>
            <a:endParaRPr lang="en-US" dirty="0"/>
          </a:p>
        </p:txBody>
      </p:sp>
      <p:sp>
        <p:nvSpPr>
          <p:cNvPr id="261" name="Lane6"/>
          <p:cNvSpPr/>
          <p:nvPr/>
        </p:nvSpPr>
        <p:spPr>
          <a:xfrm>
            <a:off x="4206240" y="5440680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2" name="Bar6"/>
          <p:cNvSpPr/>
          <p:nvPr/>
        </p:nvSpPr>
        <p:spPr>
          <a:xfrm>
            <a:off x="10979201" y="5440680"/>
            <a:ext cx="752551" cy="310896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4206240" y="5934456"/>
            <a:ext cx="7525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                                                                                                  Semana 14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las reglas de calidad genéricas en cualquier página evaluada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48056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72000" y="2971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flakiness gracias a auto-esperas inteligentes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13816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832104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412480" y="2971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tiempo de regresión cross-browser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automatizados con métricas claras de calidad del software.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07492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modular del código (pages/ y tests/) sin elementos hardcodeados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JSON para datos de prueba dinámicos y archivo browserstack.yml validado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console logs y network logs disponibles en el dashboard de BrowserStack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601200" y="4754880"/>
            <a:ext cx="4114800" cy="4114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6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815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103601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responde a la necesidad de pruebas E2E confiables, rápidas y de bajo costo</a:t>
            </a:r>
            <a:endParaRPr lang="en-US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vincula al perfil de egreso en aseguramiento de calidad e ingeniería de software</a:t>
            </a:r>
            <a:endParaRPr lang="en-US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experiencia práctica en QA/Automatización y Ciberseguridad</a:t>
            </a:r>
            <a:endParaRPr lang="en-US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factible: alcance acotado, cronograma claro y épicas incrementales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954</Words>
  <Application>Microsoft Office PowerPoint</Application>
  <PresentationFormat>Panorámica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Allendes</cp:lastModifiedBy>
  <cp:revision>9</cp:revision>
  <dcterms:created xsi:type="dcterms:W3CDTF">2026-08-29T23:44:04Z</dcterms:created>
  <dcterms:modified xsi:type="dcterms:W3CDTF">2026-09-24T04:43:24Z</dcterms:modified>
</cp:coreProperties>
</file>