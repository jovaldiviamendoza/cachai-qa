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25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35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18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111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QA / AUTOMATIZACIÓN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CACHAI-QA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Automated Checks &amp; Headless Assertions Infrastructure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25400">
            <a:solidFill>
              <a:srgbClr val="5FBFB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822960" y="4800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Mauricio Puebla Allendes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Ignacio Valdivia Mendoza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automatización de pruebas E2E para Front-End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Problemática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017166"/>
            <a:ext cx="309067" cy="309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dinámicas y asincrónicas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8580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web modernas dificultan la validación manual consistente de sus flujos.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97680" y="16002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4572000" y="1874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646" y="201716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latencia y fragilidad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52628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regresión manuales son lentas y susceptibles a errores humanos.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38160" y="16002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2"/>
          <p:cNvSpPr/>
          <p:nvPr/>
        </p:nvSpPr>
        <p:spPr>
          <a:xfrm>
            <a:off x="8412480" y="1874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3" descr="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01716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6676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Altos costos operativos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8366760" y="3291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testing manual repetitivo consume tiempo y recursos del equipo de QA.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457200" y="470916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6"/>
          <p:cNvSpPr/>
          <p:nvPr/>
        </p:nvSpPr>
        <p:spPr>
          <a:xfrm>
            <a:off x="777240" y="4709160"/>
            <a:ext cx="106344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Necesidad: una solución automatizada, mantenible y escalable para validar aplicaciones web dinámicas.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85800" y="17602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85800" y="17602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60020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la arquitectura base del framework (Playwright + POM)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685800" y="28117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85800" y="28117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63040" y="265176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los flujos transaccionales críticos: Login, Búsqueda/Filtro y Checkout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57200" y="370332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685800" y="38633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685800" y="3863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63040" y="370332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ejecución remota y paralela en la nube con BrowserStack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57200" y="475488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685800" y="49149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685800" y="49149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63040" y="4754880"/>
            <a:ext cx="10085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telemetría y un dashboard de reportabilidad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/ Solución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828799"/>
            <a:ext cx="2606040" cy="3677713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144018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799" y="22567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E2E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 rot="5400000">
            <a:off x="3097530" y="2916936"/>
            <a:ext cx="201168" cy="201168"/>
          </a:xfrm>
          <a:prstGeom prst="triangl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3291840" y="1828800"/>
            <a:ext cx="2606040" cy="3677712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427482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4" name="Image 2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39" y="225673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2900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+ POM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 rot="5400000">
            <a:off x="5932170" y="2916936"/>
            <a:ext cx="201168" cy="201168"/>
          </a:xfrm>
          <a:prstGeom prst="triangl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3"/>
          <p:cNvSpPr/>
          <p:nvPr/>
        </p:nvSpPr>
        <p:spPr>
          <a:xfrm>
            <a:off x="6126480" y="1828800"/>
            <a:ext cx="2606040" cy="3677712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4"/>
          <p:cNvSpPr/>
          <p:nvPr/>
        </p:nvSpPr>
        <p:spPr>
          <a:xfrm>
            <a:off x="710946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3" descr="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079" y="225673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6364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 rot="5400000">
            <a:off x="8766810" y="2916936"/>
            <a:ext cx="201168" cy="201168"/>
          </a:xfrm>
          <a:prstGeom prst="triangl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18"/>
          <p:cNvSpPr/>
          <p:nvPr/>
        </p:nvSpPr>
        <p:spPr>
          <a:xfrm>
            <a:off x="8961120" y="1828799"/>
            <a:ext cx="2606040" cy="3677707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19"/>
          <p:cNvSpPr/>
          <p:nvPr/>
        </p:nvSpPr>
        <p:spPr>
          <a:xfrm>
            <a:off x="994410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Image 4" descr="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7719" y="225673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98280" y="2880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tiempo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457200" y="5815583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se aplica sobre el sistema Open Source OrangeHRM para demostrar su viabilidad técnica.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FC3859BA-7C48-42A7-9802-AE56D34A7AEE}"/>
              </a:ext>
            </a:extLst>
          </p:cNvPr>
          <p:cNvSpPr/>
          <p:nvPr/>
        </p:nvSpPr>
        <p:spPr>
          <a:xfrm>
            <a:off x="594360" y="3800047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sobre OrangeHRM (RRHH, Open Source)</a:t>
            </a:r>
            <a:endParaRPr lang="en-US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BD833EC4-1C45-461B-8297-9D25A60B9E89}"/>
              </a:ext>
            </a:extLst>
          </p:cNvPr>
          <p:cNvSpPr/>
          <p:nvPr/>
        </p:nvSpPr>
        <p:spPr>
          <a:xfrm>
            <a:off x="3429000" y="3800047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Page Object Model para mantenibilidad</a:t>
            </a:r>
            <a:endParaRPr lang="en-US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6AC2C18F-84FA-43D1-BBC1-8512DD9585CB}"/>
              </a:ext>
            </a:extLst>
          </p:cNvPr>
          <p:cNvSpPr/>
          <p:nvPr/>
        </p:nvSpPr>
        <p:spPr>
          <a:xfrm>
            <a:off x="6263640" y="3800047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visuales automatizados en cada ejecución</a:t>
            </a:r>
            <a:endParaRPr lang="en-US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071C0553-EE79-4E2B-B7C6-DC96AAD8E9B2}"/>
              </a:ext>
            </a:extLst>
          </p:cNvPr>
          <p:cNvSpPr/>
          <p:nvPr/>
        </p:nvSpPr>
        <p:spPr>
          <a:xfrm>
            <a:off x="9098280" y="3800047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tiempos de validación y estabilización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Mínimo Viable (PMV)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170992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inicia la suite de pruebas en modo headless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48056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44805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74920" y="170992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abre el navegador y accede a OrangeHRM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8138160" y="16002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83210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83210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915400" y="170992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seguro de credenciales y acceso al panel principal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57200" y="36118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34440" y="372160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al módulo PIM y creación de un nuevo empleado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297680" y="36118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448056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44805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074920" y="372160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mensaje de éxito en el Front-End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8138160" y="36118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4"/>
          <p:cNvSpPr/>
          <p:nvPr/>
        </p:nvSpPr>
        <p:spPr>
          <a:xfrm>
            <a:off x="832104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83210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915400" y="3721608"/>
            <a:ext cx="265176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 publica el reporte visual de resultados</a:t>
            </a: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57200" y="55321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731520" y="5532120"/>
            <a:ext cx="10725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end-to-end desatendida: desde el disparo del pipeline hasta el reporte final de resultados.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5548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PMV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362458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502920" y="1404449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85800" y="17602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9C467FD0-22CE-40D5-A62C-D903D05FC82B}"/>
              </a:ext>
            </a:extLst>
          </p:cNvPr>
          <p:cNvSpPr/>
          <p:nvPr/>
        </p:nvSpPr>
        <p:spPr>
          <a:xfrm>
            <a:off x="457200" y="1992492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692F9753-5EE8-4F15-86B5-D5E904CAA7A1}"/>
              </a:ext>
            </a:extLst>
          </p:cNvPr>
          <p:cNvSpPr/>
          <p:nvPr/>
        </p:nvSpPr>
        <p:spPr>
          <a:xfrm>
            <a:off x="457200" y="2622526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6EB44F7E-0C02-4F57-A1CA-288575A573D8}"/>
              </a:ext>
            </a:extLst>
          </p:cNvPr>
          <p:cNvSpPr/>
          <p:nvPr/>
        </p:nvSpPr>
        <p:spPr>
          <a:xfrm>
            <a:off x="457200" y="3252560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907EC257-DE5C-4F8C-82FD-4C0E324C7AC9}"/>
              </a:ext>
            </a:extLst>
          </p:cNvPr>
          <p:cNvSpPr/>
          <p:nvPr/>
        </p:nvSpPr>
        <p:spPr>
          <a:xfrm>
            <a:off x="457200" y="3882594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5FBE7161-69A1-4CC4-AA04-4FA011F98DD2}"/>
              </a:ext>
            </a:extLst>
          </p:cNvPr>
          <p:cNvSpPr/>
          <p:nvPr/>
        </p:nvSpPr>
        <p:spPr>
          <a:xfrm>
            <a:off x="457200" y="4512628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D0C6BAEF-25B2-4BD9-B5F7-41EB6D28A25B}"/>
              </a:ext>
            </a:extLst>
          </p:cNvPr>
          <p:cNvSpPr/>
          <p:nvPr/>
        </p:nvSpPr>
        <p:spPr>
          <a:xfrm>
            <a:off x="457200" y="5142662"/>
            <a:ext cx="11274552" cy="5486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1B0DE221-D792-4D8E-A7FC-CAFF07B8FC10}"/>
              </a:ext>
            </a:extLst>
          </p:cNvPr>
          <p:cNvSpPr/>
          <p:nvPr/>
        </p:nvSpPr>
        <p:spPr>
          <a:xfrm>
            <a:off x="502920" y="2017224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6E9E4B3F-5226-4195-ADB3-77785BD855C0}"/>
              </a:ext>
            </a:extLst>
          </p:cNvPr>
          <p:cNvSpPr/>
          <p:nvPr/>
        </p:nvSpPr>
        <p:spPr>
          <a:xfrm>
            <a:off x="502920" y="2664631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536D2C7B-03E2-42ED-B404-197E44D4AA57}"/>
              </a:ext>
            </a:extLst>
          </p:cNvPr>
          <p:cNvSpPr/>
          <p:nvPr/>
        </p:nvSpPr>
        <p:spPr>
          <a:xfrm>
            <a:off x="502920" y="3304538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BE6CFFC0-93A0-4F70-B5EF-3EFA2D5A3CF5}"/>
              </a:ext>
            </a:extLst>
          </p:cNvPr>
          <p:cNvSpPr/>
          <p:nvPr/>
        </p:nvSpPr>
        <p:spPr>
          <a:xfrm>
            <a:off x="502920" y="3918735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C547EB31-ACB7-4C72-92E0-E5297767F362}"/>
              </a:ext>
            </a:extLst>
          </p:cNvPr>
          <p:cNvSpPr/>
          <p:nvPr/>
        </p:nvSpPr>
        <p:spPr>
          <a:xfrm>
            <a:off x="502920" y="4554954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5C65549D-36E2-4A3F-989A-AED34DF4625D}"/>
              </a:ext>
            </a:extLst>
          </p:cNvPr>
          <p:cNvSpPr/>
          <p:nvPr/>
        </p:nvSpPr>
        <p:spPr>
          <a:xfrm>
            <a:off x="502920" y="5178803"/>
            <a:ext cx="502920" cy="47635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480060" y="196407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3B17529A-24E8-4103-9A3C-565D3763C298}"/>
              </a:ext>
            </a:extLst>
          </p:cNvPr>
          <p:cNvSpPr/>
          <p:nvPr/>
        </p:nvSpPr>
        <p:spPr>
          <a:xfrm>
            <a:off x="480060" y="136402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18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0337C313-1FFF-4922-8AFA-AD5EC5173DC6}"/>
              </a:ext>
            </a:extLst>
          </p:cNvPr>
          <p:cNvSpPr/>
          <p:nvPr/>
        </p:nvSpPr>
        <p:spPr>
          <a:xfrm>
            <a:off x="480371" y="261090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18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BA75BC77-27D4-465E-B261-7B4032A72C44}"/>
              </a:ext>
            </a:extLst>
          </p:cNvPr>
          <p:cNvSpPr/>
          <p:nvPr/>
        </p:nvSpPr>
        <p:spPr>
          <a:xfrm>
            <a:off x="480371" y="325909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180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601E0953-4839-4C16-A1C6-784CC2448547}"/>
              </a:ext>
            </a:extLst>
          </p:cNvPr>
          <p:cNvSpPr/>
          <p:nvPr/>
        </p:nvSpPr>
        <p:spPr>
          <a:xfrm>
            <a:off x="480060" y="387606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18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0A252115-DB69-4412-93E8-0B143AD2379F}"/>
              </a:ext>
            </a:extLst>
          </p:cNvPr>
          <p:cNvSpPr/>
          <p:nvPr/>
        </p:nvSpPr>
        <p:spPr>
          <a:xfrm>
            <a:off x="476954" y="45074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1800" dirty="0"/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B44A9DD5-C209-43DD-BC54-EB655FBB85DA}"/>
              </a:ext>
            </a:extLst>
          </p:cNvPr>
          <p:cNvSpPr/>
          <p:nvPr/>
        </p:nvSpPr>
        <p:spPr>
          <a:xfrm>
            <a:off x="480371" y="51147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1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42484183-A565-4E69-AD1B-B01A0868EA0D}"/>
              </a:ext>
            </a:extLst>
          </p:cNvPr>
          <p:cNvSpPr txBox="1"/>
          <p:nvPr/>
        </p:nvSpPr>
        <p:spPr>
          <a:xfrm>
            <a:off x="1312506" y="1452112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pipeline de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Actions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inicia la ejecución de la suite de pruebas en modo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headless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(es decir sin interfaz grafica).</a:t>
            </a:r>
            <a:endParaRPr lang="es-CL" sz="16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28F7875-74DF-4991-978D-3E05CD4F67FB}"/>
              </a:ext>
            </a:extLst>
          </p:cNvPr>
          <p:cNvSpPr txBox="1"/>
          <p:nvPr/>
        </p:nvSpPr>
        <p:spPr>
          <a:xfrm>
            <a:off x="1312506" y="2077264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framework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(Playwright) abre el navegador y navega hacia la pagina de inicio de sesión de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OrangeHRM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CL" sz="16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4FD771D-375E-4F19-8448-E2AA1105A793}"/>
              </a:ext>
            </a:extLst>
          </p:cNvPr>
          <p:cNvSpPr txBox="1"/>
          <p:nvPr/>
        </p:nvSpPr>
        <p:spPr>
          <a:xfrm>
            <a:off x="1312506" y="2699974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sistema ingresa las credenciales de administrador de forma segura y accede al panel principal.</a:t>
            </a:r>
            <a:endParaRPr lang="es-CL" sz="16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209E788E-A743-48AA-8475-2B9A1F194686}"/>
              </a:ext>
            </a:extLst>
          </p:cNvPr>
          <p:cNvSpPr txBox="1"/>
          <p:nvPr/>
        </p:nvSpPr>
        <p:spPr>
          <a:xfrm>
            <a:off x="1312506" y="3342070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script navega hacia el módulo PIM (Personal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Management) manejando los tiempos de carga asíncronos.</a:t>
            </a:r>
            <a:endParaRPr lang="es-CL" sz="16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E54BBB0-ED55-4DE5-BA91-55A6708057E2}"/>
              </a:ext>
            </a:extLst>
          </p:cNvPr>
          <p:cNvSpPr txBox="1"/>
          <p:nvPr/>
        </p:nvSpPr>
        <p:spPr>
          <a:xfrm>
            <a:off x="1312506" y="3972104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completa el formulario para crear un nuevo empleado con datos de pruebas estructurados.</a:t>
            </a:r>
            <a:endParaRPr lang="es-CL" sz="16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7166A5C-6E9B-42D1-846C-453B1FF16782}"/>
              </a:ext>
            </a:extLst>
          </p:cNvPr>
          <p:cNvSpPr txBox="1"/>
          <p:nvPr/>
        </p:nvSpPr>
        <p:spPr>
          <a:xfrm>
            <a:off x="1312506" y="4594134"/>
            <a:ext cx="10120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sistema guarda el registro y valida que el mensaje de éxito se despliegue correctamente en el Front-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CL" sz="16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B23B03E-8297-4004-A054-119C49012D94}"/>
              </a:ext>
            </a:extLst>
          </p:cNvPr>
          <p:cNvSpPr txBox="1"/>
          <p:nvPr/>
        </p:nvSpPr>
        <p:spPr>
          <a:xfrm>
            <a:off x="1312506" y="5154111"/>
            <a:ext cx="10120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Finalizada la prueba,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Actions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 y publica un reporte visual con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Allule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reports</a:t>
            </a:r>
            <a:r>
              <a:rPr lang="es-A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detallando los resultados de la ejecución.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689945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 del PMV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07C004D-C88F-4873-B74A-0343532BC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94" y="1330038"/>
            <a:ext cx="2685985" cy="2390742"/>
          </a:xfrm>
          <a:prstGeom prst="rect">
            <a:avLst/>
          </a:prstGeom>
        </p:spPr>
      </p:pic>
      <p:sp>
        <p:nvSpPr>
          <p:cNvPr id="34" name="Shape 4">
            <a:extLst>
              <a:ext uri="{FF2B5EF4-FFF2-40B4-BE49-F238E27FC236}">
                <a16:creationId xmlns:a16="http://schemas.microsoft.com/office/drawing/2014/main" id="{FBAB4A8F-D3D6-48EF-95C0-D980CAEEBD5E}"/>
              </a:ext>
            </a:extLst>
          </p:cNvPr>
          <p:cNvSpPr/>
          <p:nvPr/>
        </p:nvSpPr>
        <p:spPr>
          <a:xfrm>
            <a:off x="641952" y="132890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D7947831-F8EC-4897-8FC7-10F2A98CE473}"/>
              </a:ext>
            </a:extLst>
          </p:cNvPr>
          <p:cNvSpPr/>
          <p:nvPr/>
        </p:nvSpPr>
        <p:spPr>
          <a:xfrm>
            <a:off x="640080" y="13196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A43F3DD4-06E8-4B82-9ED2-7AC0FE4F8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154" y="1304795"/>
            <a:ext cx="2570805" cy="2442856"/>
          </a:xfrm>
          <a:prstGeom prst="rect">
            <a:avLst/>
          </a:prstGeom>
        </p:spPr>
      </p:pic>
      <p:sp>
        <p:nvSpPr>
          <p:cNvPr id="36" name="Shape 8">
            <a:extLst>
              <a:ext uri="{FF2B5EF4-FFF2-40B4-BE49-F238E27FC236}">
                <a16:creationId xmlns:a16="http://schemas.microsoft.com/office/drawing/2014/main" id="{DA7373A1-ACEB-4919-833D-03AE3ACD566B}"/>
              </a:ext>
            </a:extLst>
          </p:cNvPr>
          <p:cNvSpPr/>
          <p:nvPr/>
        </p:nvSpPr>
        <p:spPr>
          <a:xfrm>
            <a:off x="4252308" y="1299207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E1CD7768-92B3-417F-BE62-999CA746EDC5}"/>
              </a:ext>
            </a:extLst>
          </p:cNvPr>
          <p:cNvSpPr/>
          <p:nvPr/>
        </p:nvSpPr>
        <p:spPr>
          <a:xfrm>
            <a:off x="4252308" y="129920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90CC6EC-78AA-4AD0-8F05-E3D07BF45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230" y="1269496"/>
            <a:ext cx="2891322" cy="2462777"/>
          </a:xfrm>
          <a:prstGeom prst="rect">
            <a:avLst/>
          </a:prstGeom>
        </p:spPr>
      </p:pic>
      <p:sp>
        <p:nvSpPr>
          <p:cNvPr id="41" name="Shape 12">
            <a:extLst>
              <a:ext uri="{FF2B5EF4-FFF2-40B4-BE49-F238E27FC236}">
                <a16:creationId xmlns:a16="http://schemas.microsoft.com/office/drawing/2014/main" id="{FA026C48-6C53-4B11-B03B-561319B23588}"/>
              </a:ext>
            </a:extLst>
          </p:cNvPr>
          <p:cNvSpPr/>
          <p:nvPr/>
        </p:nvSpPr>
        <p:spPr>
          <a:xfrm>
            <a:off x="8321040" y="1310287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B63D5428-DA58-4D08-BDFA-6B1F8E583AC1}"/>
              </a:ext>
            </a:extLst>
          </p:cNvPr>
          <p:cNvSpPr/>
          <p:nvPr/>
        </p:nvSpPr>
        <p:spPr>
          <a:xfrm>
            <a:off x="8321040" y="131028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0862A191-AD07-47CD-8697-58C1FC5852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5839" y="3978469"/>
            <a:ext cx="2822158" cy="2575219"/>
          </a:xfrm>
          <a:prstGeom prst="rect">
            <a:avLst/>
          </a:prstGeom>
        </p:spPr>
      </p:pic>
      <p:sp>
        <p:nvSpPr>
          <p:cNvPr id="45" name="Shape 20">
            <a:extLst>
              <a:ext uri="{FF2B5EF4-FFF2-40B4-BE49-F238E27FC236}">
                <a16:creationId xmlns:a16="http://schemas.microsoft.com/office/drawing/2014/main" id="{6D0FE479-8761-421F-8593-06930525F178}"/>
              </a:ext>
            </a:extLst>
          </p:cNvPr>
          <p:cNvSpPr/>
          <p:nvPr/>
        </p:nvSpPr>
        <p:spPr>
          <a:xfrm>
            <a:off x="4198554" y="3977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808A5564-D07E-4F0E-91AB-B02E69AC8FDC}"/>
              </a:ext>
            </a:extLst>
          </p:cNvPr>
          <p:cNvSpPr/>
          <p:nvPr/>
        </p:nvSpPr>
        <p:spPr>
          <a:xfrm>
            <a:off x="4198554" y="397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83D1311E-90B6-44B7-8258-26981389FF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952" y="3906527"/>
            <a:ext cx="2748964" cy="2718038"/>
          </a:xfrm>
          <a:prstGeom prst="rect">
            <a:avLst/>
          </a:prstGeom>
        </p:spPr>
      </p:pic>
      <p:sp>
        <p:nvSpPr>
          <p:cNvPr id="49" name="Shape 24">
            <a:extLst>
              <a:ext uri="{FF2B5EF4-FFF2-40B4-BE49-F238E27FC236}">
                <a16:creationId xmlns:a16="http://schemas.microsoft.com/office/drawing/2014/main" id="{DB91E6AF-4F6F-4747-8D25-2C0C92871B11}"/>
              </a:ext>
            </a:extLst>
          </p:cNvPr>
          <p:cNvSpPr/>
          <p:nvPr/>
        </p:nvSpPr>
        <p:spPr>
          <a:xfrm>
            <a:off x="8207352" y="3906527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A8644109-3A07-4749-B9E1-6D6A886B8A03}"/>
              </a:ext>
            </a:extLst>
          </p:cNvPr>
          <p:cNvSpPr/>
          <p:nvPr/>
        </p:nvSpPr>
        <p:spPr>
          <a:xfrm>
            <a:off x="8207352" y="390652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435A0F4C-C352-40D6-8E17-AA59F9CCF1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591" y="3978469"/>
            <a:ext cx="2685985" cy="2586940"/>
          </a:xfrm>
          <a:prstGeom prst="rect">
            <a:avLst/>
          </a:prstGeom>
        </p:spPr>
      </p:pic>
      <p:sp>
        <p:nvSpPr>
          <p:cNvPr id="53" name="Shape 16">
            <a:extLst>
              <a:ext uri="{FF2B5EF4-FFF2-40B4-BE49-F238E27FC236}">
                <a16:creationId xmlns:a16="http://schemas.microsoft.com/office/drawing/2014/main" id="{42A17DDC-FBEA-472B-A518-55C5D9F50BB5}"/>
              </a:ext>
            </a:extLst>
          </p:cNvPr>
          <p:cNvSpPr/>
          <p:nvPr/>
        </p:nvSpPr>
        <p:spPr>
          <a:xfrm>
            <a:off x="685800" y="3978469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2C181182-08CE-4684-8611-3F917E663E97}"/>
              </a:ext>
            </a:extLst>
          </p:cNvPr>
          <p:cNvSpPr/>
          <p:nvPr/>
        </p:nvSpPr>
        <p:spPr>
          <a:xfrm>
            <a:off x="685800" y="397846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663212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Épicas del Proyecto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5001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13232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1801368"/>
            <a:ext cx="43113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EP-001 · Arquitectura Base y POM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3232" y="2560320"/>
            <a:ext cx="49880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framework y patrón Page Object Model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231636" y="1600200"/>
            <a:ext cx="55001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6487668" y="1856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487668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146036" y="1801368"/>
            <a:ext cx="43113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EP-002 · Automatización Flujos UI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87668" y="2560320"/>
            <a:ext cx="49880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flujos transaccionales críticos de Front-End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57200" y="3657600"/>
            <a:ext cx="55001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713232" y="3913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713232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71600" y="3858768"/>
            <a:ext cx="43113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EP-003 · Integración Cloud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13232" y="4617720"/>
            <a:ext cx="49880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con BrowserStack Automate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6231636" y="3657600"/>
            <a:ext cx="550011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19"/>
          <p:cNvSpPr/>
          <p:nvPr/>
        </p:nvSpPr>
        <p:spPr>
          <a:xfrm>
            <a:off x="6487668" y="3913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6487668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46036" y="3858768"/>
            <a:ext cx="43113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EP-004 · Dashboard y Telemetría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487668" y="4617720"/>
            <a:ext cx="49880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métricas y reportabilidad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57200" y="55321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731520" y="5532120"/>
            <a:ext cx="10725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Puntos de Función distribuidos en 4 épicas incrementales a lo largo de 10 semanas.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1097280" y="2377440"/>
            <a:ext cx="9994392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841248" y="212140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41248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79" y="2743200"/>
            <a:ext cx="20253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172712" y="212140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172712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14343" y="2743200"/>
            <a:ext cx="20253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04176" y="212140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7504176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45807" y="2743200"/>
            <a:ext cx="20253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0835640" y="212140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10835640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177271" y="2743200"/>
            <a:ext cx="20253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dashboard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48640" y="3858768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ágil orientada al desarrollo de un PMV, basada en épicas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Dimensionamiento del esfuerzo mediante Poker Planning (31 Puntos de Función)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iterativo, avanzando de forma incremental entre épicas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respaldado por GitHub Actions para ejecuciones desatendidas (headless)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196047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681021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E2E con TypeScript/Python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297680" y="16002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4" y="196047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69823" y="2738629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diseño para mantenibilidad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8138160" y="16002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2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3" descr="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34" y="196047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66760" y="2738629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multi-navegador y multi-SO en la nube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457200" y="374904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16"/>
          <p:cNvSpPr/>
          <p:nvPr/>
        </p:nvSpPr>
        <p:spPr>
          <a:xfrm>
            <a:off x="685800" y="3977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4" descr="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4" y="4109314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5800" y="4892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para ejecuciones automatizadas</a:t>
            </a: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4297680" y="3743753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0"/>
          <p:cNvSpPr/>
          <p:nvPr/>
        </p:nvSpPr>
        <p:spPr>
          <a:xfrm>
            <a:off x="4526280" y="3977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8" name="Image 5" descr="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954" y="4109314"/>
            <a:ext cx="285293" cy="28529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26280" y="4892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visuales de resultados de pruebas</a:t>
            </a:r>
            <a:endParaRPr lang="en-US" dirty="0"/>
          </a:p>
        </p:txBody>
      </p:sp>
      <p:sp>
        <p:nvSpPr>
          <p:cNvPr id="31" name="Shape 23"/>
          <p:cNvSpPr/>
          <p:nvPr/>
        </p:nvSpPr>
        <p:spPr>
          <a:xfrm>
            <a:off x="8138160" y="374904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24"/>
          <p:cNvSpPr/>
          <p:nvPr/>
        </p:nvSpPr>
        <p:spPr>
          <a:xfrm>
            <a:off x="8366760" y="3977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3" name="Image 6" descr="icons/task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8434" y="4109314"/>
            <a:ext cx="285293" cy="28529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66760" y="4892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Open Source usado como caso de aplicación</a:t>
            </a: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3081652D-4383-43EC-8587-05C7D960E1BF}"/>
              </a:ext>
            </a:extLst>
          </p:cNvPr>
          <p:cNvSpPr/>
          <p:nvPr/>
        </p:nvSpPr>
        <p:spPr>
          <a:xfrm>
            <a:off x="1274674" y="19431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</a:t>
            </a:r>
            <a:endParaRPr lang="en-US" sz="20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5EB110FF-1458-490D-90FB-59597FC5A6F4}"/>
              </a:ext>
            </a:extLst>
          </p:cNvPr>
          <p:cNvSpPr/>
          <p:nvPr/>
        </p:nvSpPr>
        <p:spPr>
          <a:xfrm>
            <a:off x="5115154" y="19431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</a:t>
            </a:r>
            <a:endParaRPr lang="en-US" sz="20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8992BAD-E3C5-42E2-81D3-E4DBB61ED645}"/>
              </a:ext>
            </a:extLst>
          </p:cNvPr>
          <p:cNvSpPr/>
          <p:nvPr/>
        </p:nvSpPr>
        <p:spPr>
          <a:xfrm>
            <a:off x="8955634" y="19431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BrowserStack Automate</a:t>
            </a:r>
            <a:endParaRPr lang="en-US" sz="20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8C178633-0438-4933-B21A-5DE871E12C25}"/>
              </a:ext>
            </a:extLst>
          </p:cNvPr>
          <p:cNvSpPr/>
          <p:nvPr/>
        </p:nvSpPr>
        <p:spPr>
          <a:xfrm>
            <a:off x="1274674" y="40919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2000" dirty="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C481E8E7-0C77-4289-B4E7-1FAD1A054915}"/>
              </a:ext>
            </a:extLst>
          </p:cNvPr>
          <p:cNvSpPr/>
          <p:nvPr/>
        </p:nvSpPr>
        <p:spPr>
          <a:xfrm>
            <a:off x="5115154" y="40919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Reports</a:t>
            </a:r>
            <a:endParaRPr lang="en-US" sz="2000" dirty="0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AE6B61AE-057A-4B64-8CFF-08B368F43D2D}"/>
              </a:ext>
            </a:extLst>
          </p:cNvPr>
          <p:cNvSpPr/>
          <p:nvPr/>
        </p:nvSpPr>
        <p:spPr>
          <a:xfrm>
            <a:off x="8955634" y="40919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OrangeHRM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y Plan de Trabajo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Cronograma: 10 semanas operativas (semana 5 a semana 14) · 31 Puntos de Función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EP-001 Arquitectura Base (8 PF)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206240" y="2039112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4206240" y="2039112"/>
            <a:ext cx="1505102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457200" y="253288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EP-002 Automatización UI (13 PF)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206240" y="2606040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5711342" y="2606040"/>
            <a:ext cx="3010205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457200" y="309981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EP-003 Integración Cloud (5 PF)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206240" y="3172968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8721547" y="3172968"/>
            <a:ext cx="1505102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57200" y="366674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EP-004 Dashboard (5 PF)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206240" y="3739896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9474098" y="3739896"/>
            <a:ext cx="1505102" cy="310896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457200" y="423367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Estabilización, Informe y Defensa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206240" y="4306824"/>
            <a:ext cx="7525512" cy="310896"/>
          </a:xfrm>
          <a:prstGeom prst="rect">
            <a:avLst/>
          </a:prstGeom>
          <a:solidFill>
            <a:srgbClr val="E9EE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10226650" y="4306824"/>
            <a:ext cx="1505102" cy="310896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4206240" y="4846320"/>
            <a:ext cx="7525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                                                                                                  Semana 14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10497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flujos críticos: Login, Búsqueda/Filtro y Checkout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448056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572000" y="2971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flakiness gracias a auto-esperas inteligentes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813816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832104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412480" y="2971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tiempo de regresión cross-browser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automatizados con métricas claras de calidad del software (Allure Reports + GitHub Actions).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07492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modular del código (pages/ y tests/) sin elementos hardcodeados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JSON para datos de prueba dinámicos y archivo browserstack.yml validado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console logs y network logs disponibles en el dashboard de BrowserStack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601200" y="4754880"/>
            <a:ext cx="4114800" cy="4114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22960" y="640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815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103601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responde a la necesidad de pruebas E2E confiables, rápidas y de bajo costo</a:t>
            </a:r>
            <a:endParaRPr lang="en-US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vincula al perfil de egreso en Diseño de Software y Resolución de Problemas</a:t>
            </a:r>
            <a:endParaRPr lang="en-US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experiencia práctica en QA/Automatización y Ciberseguridad</a:t>
            </a:r>
            <a:endParaRPr lang="en-US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factible: alcance acotado, cronograma claro y épicas incrementales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CACHAI-QA — Proyecto APT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888</Words>
  <Application>Microsoft Office PowerPoint</Application>
  <PresentationFormat>Panorámica</PresentationFormat>
  <Paragraphs>175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PAZ CATALINA FUENTES VILLEGAS</cp:lastModifiedBy>
  <cp:revision>7</cp:revision>
  <dcterms:created xsi:type="dcterms:W3CDTF">2026-08-29T23:44:04Z</dcterms:created>
  <dcterms:modified xsi:type="dcterms:W3CDTF">2026-08-31T15:12:49Z</dcterms:modified>
</cp:coreProperties>
</file>